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5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11"/>
  </p:notesMasterIdLst>
  <p:sldIdLst>
    <p:sldId id="256" r:id="rId2"/>
    <p:sldId id="262" r:id="rId3"/>
    <p:sldId id="257" r:id="rId4"/>
    <p:sldId id="258" r:id="rId5"/>
    <p:sldId id="259" r:id="rId6"/>
    <p:sldId id="260" r:id="rId7"/>
    <p:sldId id="261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5" d="100"/>
          <a:sy n="55" d="100"/>
        </p:scale>
        <p:origin x="109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Chart%20in%20Microsoft%20PowerPoint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Chart%20in%20Microsoft%20PowerPoint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Chart%20in%20Microsoft%20PowerPoint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Chart%20in%20Microsoft%20PowerPoint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800" dirty="0"/>
              <a:t>Top 10 cat breeds</a:t>
            </a:r>
          </a:p>
        </c:rich>
      </c:tx>
      <c:layout>
        <c:manualLayout>
          <c:xMode val="edge"/>
          <c:yMode val="edge"/>
          <c:x val="0.40357611847883673"/>
          <c:y val="3.540715815643384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'[Chart in Microsoft PowerPoint]Sheet1'!$A$2:$A$11</c:f>
              <c:strCache>
                <c:ptCount val="10"/>
                <c:pt idx="0">
                  <c:v>Exotic Shorthair</c:v>
                </c:pt>
                <c:pt idx="1">
                  <c:v>Persian</c:v>
                </c:pt>
                <c:pt idx="2">
                  <c:v>Maine Coon</c:v>
                </c:pt>
                <c:pt idx="3">
                  <c:v>Ragdoll</c:v>
                </c:pt>
                <c:pt idx="4">
                  <c:v>British Shorthair</c:v>
                </c:pt>
                <c:pt idx="5">
                  <c:v>American Shorthair</c:v>
                </c:pt>
                <c:pt idx="6">
                  <c:v>Abyssinian</c:v>
                </c:pt>
                <c:pt idx="7">
                  <c:v>Canadian Hairless</c:v>
                </c:pt>
                <c:pt idx="8">
                  <c:v>Sphynx (hairless cat)</c:v>
                </c:pt>
                <c:pt idx="9">
                  <c:v>Siamese</c:v>
                </c:pt>
              </c:strCache>
            </c:strRef>
          </c:cat>
          <c:val>
            <c:numRef>
              <c:f>'[Chart in Microsoft PowerPoint]Sheet1'!$B$2:$B$11</c:f>
              <c:numCache>
                <c:formatCode>General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B4B-4044-9116-508D94233533}"/>
            </c:ext>
          </c:extLst>
        </c:ser>
        <c:ser>
          <c:idx val="1"/>
          <c:order val="1"/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'[Chart in Microsoft PowerPoint]Sheet1'!$A$2:$A$11</c:f>
              <c:strCache>
                <c:ptCount val="10"/>
                <c:pt idx="0">
                  <c:v>Exotic Shorthair</c:v>
                </c:pt>
                <c:pt idx="1">
                  <c:v>Persian</c:v>
                </c:pt>
                <c:pt idx="2">
                  <c:v>Maine Coon</c:v>
                </c:pt>
                <c:pt idx="3">
                  <c:v>Ragdoll</c:v>
                </c:pt>
                <c:pt idx="4">
                  <c:v>British Shorthair</c:v>
                </c:pt>
                <c:pt idx="5">
                  <c:v>American Shorthair</c:v>
                </c:pt>
                <c:pt idx="6">
                  <c:v>Abyssinian</c:v>
                </c:pt>
                <c:pt idx="7">
                  <c:v>Canadian Hairless</c:v>
                </c:pt>
                <c:pt idx="8">
                  <c:v>Sphynx (hairless cat)</c:v>
                </c:pt>
                <c:pt idx="9">
                  <c:v>Siamese</c:v>
                </c:pt>
              </c:strCache>
            </c:strRef>
          </c:cat>
          <c:val>
            <c:numRef>
              <c:f>'[Chart in Microsoft PowerPoint]Sheet1'!$C$2:$C$11</c:f>
              <c:numCache>
                <c:formatCode>General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B4B-4044-9116-508D94233533}"/>
            </c:ext>
          </c:extLst>
        </c:ser>
        <c:ser>
          <c:idx val="2"/>
          <c:order val="2"/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'[Chart in Microsoft PowerPoint]Sheet1'!$A$2:$A$11</c:f>
              <c:strCache>
                <c:ptCount val="10"/>
                <c:pt idx="0">
                  <c:v>Exotic Shorthair</c:v>
                </c:pt>
                <c:pt idx="1">
                  <c:v>Persian</c:v>
                </c:pt>
                <c:pt idx="2">
                  <c:v>Maine Coon</c:v>
                </c:pt>
                <c:pt idx="3">
                  <c:v>Ragdoll</c:v>
                </c:pt>
                <c:pt idx="4">
                  <c:v>British Shorthair</c:v>
                </c:pt>
                <c:pt idx="5">
                  <c:v>American Shorthair</c:v>
                </c:pt>
                <c:pt idx="6">
                  <c:v>Abyssinian</c:v>
                </c:pt>
                <c:pt idx="7">
                  <c:v>Canadian Hairless</c:v>
                </c:pt>
                <c:pt idx="8">
                  <c:v>Sphynx (hairless cat)</c:v>
                </c:pt>
                <c:pt idx="9">
                  <c:v>Siamese</c:v>
                </c:pt>
              </c:strCache>
            </c:strRef>
          </c:cat>
          <c:val>
            <c:numRef>
              <c:f>'[Chart in Microsoft PowerPoint]Sheet1'!$D$2:$D$11</c:f>
              <c:numCache>
                <c:formatCode>General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B4B-4044-9116-508D94233533}"/>
            </c:ext>
          </c:extLst>
        </c:ser>
        <c:ser>
          <c:idx val="3"/>
          <c:order val="3"/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'[Chart in Microsoft PowerPoint]Sheet1'!$A$2:$A$11</c:f>
              <c:strCache>
                <c:ptCount val="10"/>
                <c:pt idx="0">
                  <c:v>Exotic Shorthair</c:v>
                </c:pt>
                <c:pt idx="1">
                  <c:v>Persian</c:v>
                </c:pt>
                <c:pt idx="2">
                  <c:v>Maine Coon</c:v>
                </c:pt>
                <c:pt idx="3">
                  <c:v>Ragdoll</c:v>
                </c:pt>
                <c:pt idx="4">
                  <c:v>British Shorthair</c:v>
                </c:pt>
                <c:pt idx="5">
                  <c:v>American Shorthair</c:v>
                </c:pt>
                <c:pt idx="6">
                  <c:v>Abyssinian</c:v>
                </c:pt>
                <c:pt idx="7">
                  <c:v>Canadian Hairless</c:v>
                </c:pt>
                <c:pt idx="8">
                  <c:v>Sphynx (hairless cat)</c:v>
                </c:pt>
                <c:pt idx="9">
                  <c:v>Siamese</c:v>
                </c:pt>
              </c:strCache>
            </c:strRef>
          </c:cat>
          <c:val>
            <c:numRef>
              <c:f>'[Chart in Microsoft PowerPoint]Sheet1'!$E$2:$E$11</c:f>
              <c:numCache>
                <c:formatCode>General</c:formatCode>
                <c:ptCount val="10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7</c:v>
                </c:pt>
                <c:pt idx="4">
                  <c:v>7</c:v>
                </c:pt>
                <c:pt idx="5">
                  <c:v>6</c:v>
                </c:pt>
                <c:pt idx="6">
                  <c:v>4</c:v>
                </c:pt>
                <c:pt idx="7">
                  <c:v>5</c:v>
                </c:pt>
                <c:pt idx="8">
                  <c:v>5</c:v>
                </c:pt>
                <c:pt idx="9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1B4B-4044-9116-508D94233533}"/>
            </c:ext>
          </c:extLst>
        </c:ser>
        <c:ser>
          <c:idx val="4"/>
          <c:order val="4"/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'[Chart in Microsoft PowerPoint]Sheet1'!$A$2:$A$11</c:f>
              <c:strCache>
                <c:ptCount val="10"/>
                <c:pt idx="0">
                  <c:v>Exotic Shorthair</c:v>
                </c:pt>
                <c:pt idx="1">
                  <c:v>Persian</c:v>
                </c:pt>
                <c:pt idx="2">
                  <c:v>Maine Coon</c:v>
                </c:pt>
                <c:pt idx="3">
                  <c:v>Ragdoll</c:v>
                </c:pt>
                <c:pt idx="4">
                  <c:v>British Shorthair</c:v>
                </c:pt>
                <c:pt idx="5">
                  <c:v>American Shorthair</c:v>
                </c:pt>
                <c:pt idx="6">
                  <c:v>Abyssinian</c:v>
                </c:pt>
                <c:pt idx="7">
                  <c:v>Canadian Hairless</c:v>
                </c:pt>
                <c:pt idx="8">
                  <c:v>Sphynx (hairless cat)</c:v>
                </c:pt>
                <c:pt idx="9">
                  <c:v>Siamese</c:v>
                </c:pt>
              </c:strCache>
            </c:strRef>
          </c:cat>
          <c:val>
            <c:numRef>
              <c:f>'[Chart in Microsoft PowerPoint]Sheet1'!$F$2:$F$11</c:f>
              <c:numCache>
                <c:formatCode>General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B4B-4044-9116-508D94233533}"/>
            </c:ext>
          </c:extLst>
        </c:ser>
        <c:ser>
          <c:idx val="5"/>
          <c:order val="5"/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'[Chart in Microsoft PowerPoint]Sheet1'!$A$2:$A$11</c:f>
              <c:strCache>
                <c:ptCount val="10"/>
                <c:pt idx="0">
                  <c:v>Exotic Shorthair</c:v>
                </c:pt>
                <c:pt idx="1">
                  <c:v>Persian</c:v>
                </c:pt>
                <c:pt idx="2">
                  <c:v>Maine Coon</c:v>
                </c:pt>
                <c:pt idx="3">
                  <c:v>Ragdoll</c:v>
                </c:pt>
                <c:pt idx="4">
                  <c:v>British Shorthair</c:v>
                </c:pt>
                <c:pt idx="5">
                  <c:v>American Shorthair</c:v>
                </c:pt>
                <c:pt idx="6">
                  <c:v>Abyssinian</c:v>
                </c:pt>
                <c:pt idx="7">
                  <c:v>Canadian Hairless</c:v>
                </c:pt>
                <c:pt idx="8">
                  <c:v>Sphynx (hairless cat)</c:v>
                </c:pt>
                <c:pt idx="9">
                  <c:v>Siamese</c:v>
                </c:pt>
              </c:strCache>
            </c:strRef>
          </c:cat>
          <c:val>
            <c:numRef>
              <c:f>'[Chart in Microsoft PowerPoint]Sheet1'!$G$2:$G$11</c:f>
              <c:numCache>
                <c:formatCode>General</c:formatCode>
                <c:ptCount val="10"/>
                <c:pt idx="0">
                  <c:v>1750</c:v>
                </c:pt>
                <c:pt idx="1">
                  <c:v>1250</c:v>
                </c:pt>
                <c:pt idx="2">
                  <c:v>1600</c:v>
                </c:pt>
                <c:pt idx="3">
                  <c:v>1000</c:v>
                </c:pt>
                <c:pt idx="4">
                  <c:v>1750</c:v>
                </c:pt>
                <c:pt idx="5">
                  <c:v>900</c:v>
                </c:pt>
                <c:pt idx="6">
                  <c:v>1050</c:v>
                </c:pt>
                <c:pt idx="7">
                  <c:v>1450</c:v>
                </c:pt>
                <c:pt idx="8">
                  <c:v>1450</c:v>
                </c:pt>
                <c:pt idx="9">
                  <c:v>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1B4B-4044-9116-508D94233533}"/>
            </c:ext>
          </c:extLst>
        </c:ser>
        <c:ser>
          <c:idx val="6"/>
          <c:order val="6"/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'[Chart in Microsoft PowerPoint]Sheet1'!$A$2:$A$11</c:f>
              <c:strCache>
                <c:ptCount val="10"/>
                <c:pt idx="0">
                  <c:v>Exotic Shorthair</c:v>
                </c:pt>
                <c:pt idx="1">
                  <c:v>Persian</c:v>
                </c:pt>
                <c:pt idx="2">
                  <c:v>Maine Coon</c:v>
                </c:pt>
                <c:pt idx="3">
                  <c:v>Ragdoll</c:v>
                </c:pt>
                <c:pt idx="4">
                  <c:v>British Shorthair</c:v>
                </c:pt>
                <c:pt idx="5">
                  <c:v>American Shorthair</c:v>
                </c:pt>
                <c:pt idx="6">
                  <c:v>Abyssinian</c:v>
                </c:pt>
                <c:pt idx="7">
                  <c:v>Canadian Hairless</c:v>
                </c:pt>
                <c:pt idx="8">
                  <c:v>Sphynx (hairless cat)</c:v>
                </c:pt>
                <c:pt idx="9">
                  <c:v>Siamese</c:v>
                </c:pt>
              </c:strCache>
            </c:strRef>
          </c:cat>
          <c:val>
            <c:numRef>
              <c:f>'[Chart in Microsoft PowerPoint]Sheet1'!$H$2:$H$11</c:f>
              <c:numCache>
                <c:formatCode>General</c:formatCode>
                <c:ptCount val="10"/>
                <c:pt idx="0">
                  <c:v>2</c:v>
                </c:pt>
                <c:pt idx="1">
                  <c:v>3</c:v>
                </c:pt>
                <c:pt idx="2">
                  <c:v>1</c:v>
                </c:pt>
                <c:pt idx="3">
                  <c:v>7</c:v>
                </c:pt>
                <c:pt idx="4">
                  <c:v>6</c:v>
                </c:pt>
                <c:pt idx="5">
                  <c:v>5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B4B-4044-9116-508D94233533}"/>
            </c:ext>
          </c:extLst>
        </c:ser>
        <c:ser>
          <c:idx val="7"/>
          <c:order val="7"/>
          <c:spPr>
            <a:solidFill>
              <a:schemeClr val="accent2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'[Chart in Microsoft PowerPoint]Sheet1'!$A$2:$A$11</c:f>
              <c:strCache>
                <c:ptCount val="10"/>
                <c:pt idx="0">
                  <c:v>Exotic Shorthair</c:v>
                </c:pt>
                <c:pt idx="1">
                  <c:v>Persian</c:v>
                </c:pt>
                <c:pt idx="2">
                  <c:v>Maine Coon</c:v>
                </c:pt>
                <c:pt idx="3">
                  <c:v>Ragdoll</c:v>
                </c:pt>
                <c:pt idx="4">
                  <c:v>British Shorthair</c:v>
                </c:pt>
                <c:pt idx="5">
                  <c:v>American Shorthair</c:v>
                </c:pt>
                <c:pt idx="6">
                  <c:v>Abyssinian</c:v>
                </c:pt>
                <c:pt idx="7">
                  <c:v>Canadian Hairless</c:v>
                </c:pt>
                <c:pt idx="8">
                  <c:v>Sphynx (hairless cat)</c:v>
                </c:pt>
                <c:pt idx="9">
                  <c:v>Siamese</c:v>
                </c:pt>
              </c:strCache>
            </c:strRef>
          </c:cat>
          <c:val>
            <c:numRef>
              <c:f>'[Chart in Microsoft PowerPoint]Sheet1'!$I$2:$I$11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8</c:v>
                </c:pt>
                <c:pt idx="9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1B4B-4044-9116-508D9423353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493112703"/>
        <c:axId val="1493119903"/>
      </c:barChart>
      <c:catAx>
        <c:axId val="149311270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93119903"/>
        <c:crosses val="autoZero"/>
        <c:auto val="1"/>
        <c:lblAlgn val="ctr"/>
        <c:lblOffset val="100"/>
        <c:noMultiLvlLbl val="0"/>
      </c:catAx>
      <c:valAx>
        <c:axId val="149311990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9311270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800" dirty="0"/>
              <a:t>Top</a:t>
            </a:r>
            <a:r>
              <a:rPr lang="en-US" sz="2800" baseline="0" dirty="0"/>
              <a:t> 10 dog</a:t>
            </a:r>
            <a:endParaRPr lang="en-US" sz="2800" dirty="0"/>
          </a:p>
        </c:rich>
      </c:tx>
      <c:layout>
        <c:manualLayout>
          <c:xMode val="edge"/>
          <c:yMode val="edge"/>
          <c:x val="0.31100428677549091"/>
          <c:y val="3.611459559295296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'[Chart in Microsoft PowerPoint]Sheet1'!$B$1</c:f>
              <c:strCache>
                <c:ptCount val="1"/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'[Chart in Microsoft PowerPoint]Sheet1'!$A$2:$A$11</c:f>
              <c:strCache>
                <c:ptCount val="10"/>
                <c:pt idx="0">
                  <c:v>Black Labrador Retriever</c:v>
                </c:pt>
                <c:pt idx="1">
                  <c:v>Chocolate Labrador Retriever</c:v>
                </c:pt>
                <c:pt idx="2">
                  <c:v>Labrador Retriever</c:v>
                </c:pt>
                <c:pt idx="3">
                  <c:v>Yellow Labrador Retriever</c:v>
                </c:pt>
                <c:pt idx="4">
                  <c:v>German Shepherd Dog</c:v>
                </c:pt>
                <c:pt idx="5">
                  <c:v>Shepherd</c:v>
                </c:pt>
                <c:pt idx="6">
                  <c:v>White German Shepherd</c:v>
                </c:pt>
                <c:pt idx="7">
                  <c:v>Golden Retriever</c:v>
                </c:pt>
                <c:pt idx="8">
                  <c:v>Retriever</c:v>
                </c:pt>
                <c:pt idx="9">
                  <c:v>French Bulldog</c:v>
                </c:pt>
              </c:strCache>
            </c:strRef>
          </c:cat>
          <c:val>
            <c:numRef>
              <c:f>'[Chart in Microsoft PowerPoint]Sheet1'!$B$2:$B$11</c:f>
              <c:numCache>
                <c:formatCode>General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349-4F2C-9B9A-7497B8C2917C}"/>
            </c:ext>
          </c:extLst>
        </c:ser>
        <c:ser>
          <c:idx val="1"/>
          <c:order val="1"/>
          <c:tx>
            <c:strRef>
              <c:f>'[Chart in Microsoft PowerPoint]Sheet1'!$C$1</c:f>
              <c:strCache>
                <c:ptCount val="1"/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'[Chart in Microsoft PowerPoint]Sheet1'!$A$2:$A$11</c:f>
              <c:strCache>
                <c:ptCount val="10"/>
                <c:pt idx="0">
                  <c:v>Black Labrador Retriever</c:v>
                </c:pt>
                <c:pt idx="1">
                  <c:v>Chocolate Labrador Retriever</c:v>
                </c:pt>
                <c:pt idx="2">
                  <c:v>Labrador Retriever</c:v>
                </c:pt>
                <c:pt idx="3">
                  <c:v>Yellow Labrador Retriever</c:v>
                </c:pt>
                <c:pt idx="4">
                  <c:v>German Shepherd Dog</c:v>
                </c:pt>
                <c:pt idx="5">
                  <c:v>Shepherd</c:v>
                </c:pt>
                <c:pt idx="6">
                  <c:v>White German Shepherd</c:v>
                </c:pt>
                <c:pt idx="7">
                  <c:v>Golden Retriever</c:v>
                </c:pt>
                <c:pt idx="8">
                  <c:v>Retriever</c:v>
                </c:pt>
                <c:pt idx="9">
                  <c:v>French Bulldog</c:v>
                </c:pt>
              </c:strCache>
            </c:strRef>
          </c:cat>
          <c:val>
            <c:numRef>
              <c:f>'[Chart in Microsoft PowerPoint]Sheet1'!$C$2:$C$11</c:f>
              <c:numCache>
                <c:formatCode>General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349-4F2C-9B9A-7497B8C2917C}"/>
            </c:ext>
          </c:extLst>
        </c:ser>
        <c:ser>
          <c:idx val="2"/>
          <c:order val="2"/>
          <c:tx>
            <c:strRef>
              <c:f>'[Chart in Microsoft PowerPoint]Sheet1'!$D$1</c:f>
              <c:strCache>
                <c:ptCount val="1"/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'[Chart in Microsoft PowerPoint]Sheet1'!$A$2:$A$11</c:f>
              <c:strCache>
                <c:ptCount val="10"/>
                <c:pt idx="0">
                  <c:v>Black Labrador Retriever</c:v>
                </c:pt>
                <c:pt idx="1">
                  <c:v>Chocolate Labrador Retriever</c:v>
                </c:pt>
                <c:pt idx="2">
                  <c:v>Labrador Retriever</c:v>
                </c:pt>
                <c:pt idx="3">
                  <c:v>Yellow Labrador Retriever</c:v>
                </c:pt>
                <c:pt idx="4">
                  <c:v>German Shepherd Dog</c:v>
                </c:pt>
                <c:pt idx="5">
                  <c:v>Shepherd</c:v>
                </c:pt>
                <c:pt idx="6">
                  <c:v>White German Shepherd</c:v>
                </c:pt>
                <c:pt idx="7">
                  <c:v>Golden Retriever</c:v>
                </c:pt>
                <c:pt idx="8">
                  <c:v>Retriever</c:v>
                </c:pt>
                <c:pt idx="9">
                  <c:v>French Bulldog</c:v>
                </c:pt>
              </c:strCache>
            </c:strRef>
          </c:cat>
          <c:val>
            <c:numRef>
              <c:f>'[Chart in Microsoft PowerPoint]Sheet1'!$D$2:$D$11</c:f>
              <c:numCache>
                <c:formatCode>General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349-4F2C-9B9A-7497B8C2917C}"/>
            </c:ext>
          </c:extLst>
        </c:ser>
        <c:ser>
          <c:idx val="3"/>
          <c:order val="3"/>
          <c:tx>
            <c:strRef>
              <c:f>'[Chart in Microsoft PowerPoint]Sheet1'!$E$1</c:f>
              <c:strCache>
                <c:ptCount val="1"/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'[Chart in Microsoft PowerPoint]Sheet1'!$A$2:$A$11</c:f>
              <c:strCache>
                <c:ptCount val="10"/>
                <c:pt idx="0">
                  <c:v>Black Labrador Retriever</c:v>
                </c:pt>
                <c:pt idx="1">
                  <c:v>Chocolate Labrador Retriever</c:v>
                </c:pt>
                <c:pt idx="2">
                  <c:v>Labrador Retriever</c:v>
                </c:pt>
                <c:pt idx="3">
                  <c:v>Yellow Labrador Retriever</c:v>
                </c:pt>
                <c:pt idx="4">
                  <c:v>German Shepherd Dog</c:v>
                </c:pt>
                <c:pt idx="5">
                  <c:v>Shepherd</c:v>
                </c:pt>
                <c:pt idx="6">
                  <c:v>White German Shepherd</c:v>
                </c:pt>
                <c:pt idx="7">
                  <c:v>Golden Retriever</c:v>
                </c:pt>
                <c:pt idx="8">
                  <c:v>Retriever</c:v>
                </c:pt>
                <c:pt idx="9">
                  <c:v>French Bulldog</c:v>
                </c:pt>
              </c:strCache>
            </c:strRef>
          </c:cat>
          <c:val>
            <c:numRef>
              <c:f>'[Chart in Microsoft PowerPoint]Sheet1'!$E$2:$E$11</c:f>
              <c:numCache>
                <c:formatCode>General</c:formatCode>
                <c:ptCount val="10"/>
                <c:pt idx="0">
                  <c:v>32</c:v>
                </c:pt>
                <c:pt idx="1">
                  <c:v>32</c:v>
                </c:pt>
                <c:pt idx="2">
                  <c:v>32</c:v>
                </c:pt>
                <c:pt idx="3">
                  <c:v>32</c:v>
                </c:pt>
                <c:pt idx="4">
                  <c:v>35</c:v>
                </c:pt>
                <c:pt idx="5">
                  <c:v>35</c:v>
                </c:pt>
                <c:pt idx="6">
                  <c:v>35</c:v>
                </c:pt>
                <c:pt idx="7">
                  <c:v>32</c:v>
                </c:pt>
                <c:pt idx="8">
                  <c:v>32</c:v>
                </c:pt>
                <c:pt idx="9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B349-4F2C-9B9A-7497B8C2917C}"/>
            </c:ext>
          </c:extLst>
        </c:ser>
        <c:ser>
          <c:idx val="4"/>
          <c:order val="4"/>
          <c:tx>
            <c:strRef>
              <c:f>'[Chart in Microsoft PowerPoint]Sheet1'!$F$1</c:f>
              <c:strCache>
                <c:ptCount val="1"/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'[Chart in Microsoft PowerPoint]Sheet1'!$A$2:$A$11</c:f>
              <c:strCache>
                <c:ptCount val="10"/>
                <c:pt idx="0">
                  <c:v>Black Labrador Retriever</c:v>
                </c:pt>
                <c:pt idx="1">
                  <c:v>Chocolate Labrador Retriever</c:v>
                </c:pt>
                <c:pt idx="2">
                  <c:v>Labrador Retriever</c:v>
                </c:pt>
                <c:pt idx="3">
                  <c:v>Yellow Labrador Retriever</c:v>
                </c:pt>
                <c:pt idx="4">
                  <c:v>German Shepherd Dog</c:v>
                </c:pt>
                <c:pt idx="5">
                  <c:v>Shepherd</c:v>
                </c:pt>
                <c:pt idx="6">
                  <c:v>White German Shepherd</c:v>
                </c:pt>
                <c:pt idx="7">
                  <c:v>Golden Retriever</c:v>
                </c:pt>
                <c:pt idx="8">
                  <c:v>Retriever</c:v>
                </c:pt>
                <c:pt idx="9">
                  <c:v>French Bulldog</c:v>
                </c:pt>
              </c:strCache>
            </c:strRef>
          </c:cat>
          <c:val>
            <c:numRef>
              <c:f>'[Chart in Microsoft PowerPoint]Sheet1'!$F$2:$F$11</c:f>
              <c:numCache>
                <c:formatCode>General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349-4F2C-9B9A-7497B8C2917C}"/>
            </c:ext>
          </c:extLst>
        </c:ser>
        <c:ser>
          <c:idx val="5"/>
          <c:order val="5"/>
          <c:tx>
            <c:strRef>
              <c:f>'[Chart in Microsoft PowerPoint]Sheet1'!$G$1</c:f>
              <c:strCache>
                <c:ptCount val="1"/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'[Chart in Microsoft PowerPoint]Sheet1'!$A$2:$A$11</c:f>
              <c:strCache>
                <c:ptCount val="10"/>
                <c:pt idx="0">
                  <c:v>Black Labrador Retriever</c:v>
                </c:pt>
                <c:pt idx="1">
                  <c:v>Chocolate Labrador Retriever</c:v>
                </c:pt>
                <c:pt idx="2">
                  <c:v>Labrador Retriever</c:v>
                </c:pt>
                <c:pt idx="3">
                  <c:v>Yellow Labrador Retriever</c:v>
                </c:pt>
                <c:pt idx="4">
                  <c:v>German Shepherd Dog</c:v>
                </c:pt>
                <c:pt idx="5">
                  <c:v>Shepherd</c:v>
                </c:pt>
                <c:pt idx="6">
                  <c:v>White German Shepherd</c:v>
                </c:pt>
                <c:pt idx="7">
                  <c:v>Golden Retriever</c:v>
                </c:pt>
                <c:pt idx="8">
                  <c:v>Retriever</c:v>
                </c:pt>
                <c:pt idx="9">
                  <c:v>French Bulldog</c:v>
                </c:pt>
              </c:strCache>
            </c:strRef>
          </c:cat>
          <c:val>
            <c:numRef>
              <c:f>'[Chart in Microsoft PowerPoint]Sheet1'!$G$2:$G$11</c:f>
              <c:numCache>
                <c:formatCode>General</c:formatCode>
                <c:ptCount val="10"/>
                <c:pt idx="0">
                  <c:v>1500</c:v>
                </c:pt>
                <c:pt idx="1">
                  <c:v>1500</c:v>
                </c:pt>
                <c:pt idx="2">
                  <c:v>1500</c:v>
                </c:pt>
                <c:pt idx="3">
                  <c:v>1500</c:v>
                </c:pt>
                <c:pt idx="4">
                  <c:v>1400</c:v>
                </c:pt>
                <c:pt idx="5">
                  <c:v>1400</c:v>
                </c:pt>
                <c:pt idx="6">
                  <c:v>1400</c:v>
                </c:pt>
                <c:pt idx="7">
                  <c:v>1500</c:v>
                </c:pt>
                <c:pt idx="8">
                  <c:v>1500</c:v>
                </c:pt>
                <c:pt idx="9">
                  <c:v>3000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B349-4F2C-9B9A-7497B8C2917C}"/>
            </c:ext>
          </c:extLst>
        </c:ser>
        <c:ser>
          <c:idx val="6"/>
          <c:order val="6"/>
          <c:tx>
            <c:strRef>
              <c:f>'[Chart in Microsoft PowerPoint]Sheet1'!$H$1</c:f>
              <c:strCache>
                <c:ptCount val="1"/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'[Chart in Microsoft PowerPoint]Sheet1'!$A$2:$A$11</c:f>
              <c:strCache>
                <c:ptCount val="10"/>
                <c:pt idx="0">
                  <c:v>Black Labrador Retriever</c:v>
                </c:pt>
                <c:pt idx="1">
                  <c:v>Chocolate Labrador Retriever</c:v>
                </c:pt>
                <c:pt idx="2">
                  <c:v>Labrador Retriever</c:v>
                </c:pt>
                <c:pt idx="3">
                  <c:v>Yellow Labrador Retriever</c:v>
                </c:pt>
                <c:pt idx="4">
                  <c:v>German Shepherd Dog</c:v>
                </c:pt>
                <c:pt idx="5">
                  <c:v>Shepherd</c:v>
                </c:pt>
                <c:pt idx="6">
                  <c:v>White German Shepherd</c:v>
                </c:pt>
                <c:pt idx="7">
                  <c:v>Golden Retriever</c:v>
                </c:pt>
                <c:pt idx="8">
                  <c:v>Retriever</c:v>
                </c:pt>
                <c:pt idx="9">
                  <c:v>French Bulldog</c:v>
                </c:pt>
              </c:strCache>
            </c:strRef>
          </c:cat>
          <c:val>
            <c:numRef>
              <c:f>'[Chart in Microsoft PowerPoint]Sheet1'!$H$2:$H$11</c:f>
              <c:numCache>
                <c:formatCode>General</c:formatCode>
                <c:ptCount val="10"/>
                <c:pt idx="0">
                  <c:v>7</c:v>
                </c:pt>
                <c:pt idx="1">
                  <c:v>7</c:v>
                </c:pt>
                <c:pt idx="2">
                  <c:v>7</c:v>
                </c:pt>
                <c:pt idx="3">
                  <c:v>7</c:v>
                </c:pt>
                <c:pt idx="4">
                  <c:v>3</c:v>
                </c:pt>
                <c:pt idx="5">
                  <c:v>3</c:v>
                </c:pt>
                <c:pt idx="6">
                  <c:v>3</c:v>
                </c:pt>
                <c:pt idx="7">
                  <c:v>4</c:v>
                </c:pt>
                <c:pt idx="8">
                  <c:v>4</c:v>
                </c:pt>
                <c:pt idx="9">
                  <c:v>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349-4F2C-9B9A-7497B8C2917C}"/>
            </c:ext>
          </c:extLst>
        </c:ser>
        <c:ser>
          <c:idx val="7"/>
          <c:order val="7"/>
          <c:tx>
            <c:strRef>
              <c:f>'[Chart in Microsoft PowerPoint]Sheet1'!$I$1</c:f>
              <c:strCache>
                <c:ptCount val="1"/>
              </c:strCache>
            </c:strRef>
          </c:tx>
          <c:spPr>
            <a:solidFill>
              <a:schemeClr val="accent2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'[Chart in Microsoft PowerPoint]Sheet1'!$A$2:$A$11</c:f>
              <c:strCache>
                <c:ptCount val="10"/>
                <c:pt idx="0">
                  <c:v>Black Labrador Retriever</c:v>
                </c:pt>
                <c:pt idx="1">
                  <c:v>Chocolate Labrador Retriever</c:v>
                </c:pt>
                <c:pt idx="2">
                  <c:v>Labrador Retriever</c:v>
                </c:pt>
                <c:pt idx="3">
                  <c:v>Yellow Labrador Retriever</c:v>
                </c:pt>
                <c:pt idx="4">
                  <c:v>German Shepherd Dog</c:v>
                </c:pt>
                <c:pt idx="5">
                  <c:v>Shepherd</c:v>
                </c:pt>
                <c:pt idx="6">
                  <c:v>White German Shepherd</c:v>
                </c:pt>
                <c:pt idx="7">
                  <c:v>Golden Retriever</c:v>
                </c:pt>
                <c:pt idx="8">
                  <c:v>Retriever</c:v>
                </c:pt>
                <c:pt idx="9">
                  <c:v>French Bulldog</c:v>
                </c:pt>
              </c:strCache>
            </c:strRef>
          </c:cat>
          <c:val>
            <c:numRef>
              <c:f>'[Chart in Microsoft PowerPoint]Sheet1'!$I$2:$I$11</c:f>
              <c:numCache>
                <c:formatCode>General</c:formatCode>
                <c:ptCount val="10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6</c:v>
                </c:pt>
                <c:pt idx="5">
                  <c:v>6</c:v>
                </c:pt>
                <c:pt idx="6">
                  <c:v>6</c:v>
                </c:pt>
                <c:pt idx="7">
                  <c:v>3</c:v>
                </c:pt>
                <c:pt idx="8">
                  <c:v>3</c:v>
                </c:pt>
                <c:pt idx="9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B349-4F2C-9B9A-7497B8C2917C}"/>
            </c:ext>
          </c:extLst>
        </c:ser>
        <c:ser>
          <c:idx val="8"/>
          <c:order val="8"/>
          <c:tx>
            <c:strRef>
              <c:f>'[Chart in Microsoft PowerPoint]Sheet1'!$J$1</c:f>
              <c:strCache>
                <c:ptCount val="1"/>
              </c:strCache>
            </c:strRef>
          </c:tx>
          <c:spPr>
            <a:solidFill>
              <a:schemeClr val="accent3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'[Chart in Microsoft PowerPoint]Sheet1'!$A$2:$A$11</c:f>
              <c:strCache>
                <c:ptCount val="10"/>
                <c:pt idx="0">
                  <c:v>Black Labrador Retriever</c:v>
                </c:pt>
                <c:pt idx="1">
                  <c:v>Chocolate Labrador Retriever</c:v>
                </c:pt>
                <c:pt idx="2">
                  <c:v>Labrador Retriever</c:v>
                </c:pt>
                <c:pt idx="3">
                  <c:v>Yellow Labrador Retriever</c:v>
                </c:pt>
                <c:pt idx="4">
                  <c:v>German Shepherd Dog</c:v>
                </c:pt>
                <c:pt idx="5">
                  <c:v>Shepherd</c:v>
                </c:pt>
                <c:pt idx="6">
                  <c:v>White German Shepherd</c:v>
                </c:pt>
                <c:pt idx="7">
                  <c:v>Golden Retriever</c:v>
                </c:pt>
                <c:pt idx="8">
                  <c:v>Retriever</c:v>
                </c:pt>
                <c:pt idx="9">
                  <c:v>French Bulldog</c:v>
                </c:pt>
              </c:strCache>
            </c:strRef>
          </c:cat>
          <c:val>
            <c:numRef>
              <c:f>'[Chart in Microsoft PowerPoint]Sheet1'!$J$2:$J$11</c:f>
              <c:numCache>
                <c:formatCode>General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1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B349-4F2C-9B9A-7497B8C2917C}"/>
            </c:ext>
          </c:extLst>
        </c:ser>
        <c:ser>
          <c:idx val="9"/>
          <c:order val="9"/>
          <c:tx>
            <c:strRef>
              <c:f>'[Chart in Microsoft PowerPoint]Sheet1'!$K$1</c:f>
              <c:strCache>
                <c:ptCount val="1"/>
              </c:strCache>
            </c:strRef>
          </c:tx>
          <c:spPr>
            <a:solidFill>
              <a:schemeClr val="accent4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'[Chart in Microsoft PowerPoint]Sheet1'!$A$2:$A$11</c:f>
              <c:strCache>
                <c:ptCount val="10"/>
                <c:pt idx="0">
                  <c:v>Black Labrador Retriever</c:v>
                </c:pt>
                <c:pt idx="1">
                  <c:v>Chocolate Labrador Retriever</c:v>
                </c:pt>
                <c:pt idx="2">
                  <c:v>Labrador Retriever</c:v>
                </c:pt>
                <c:pt idx="3">
                  <c:v>Yellow Labrador Retriever</c:v>
                </c:pt>
                <c:pt idx="4">
                  <c:v>German Shepherd Dog</c:v>
                </c:pt>
                <c:pt idx="5">
                  <c:v>Shepherd</c:v>
                </c:pt>
                <c:pt idx="6">
                  <c:v>White German Shepherd</c:v>
                </c:pt>
                <c:pt idx="7">
                  <c:v>Golden Retriever</c:v>
                </c:pt>
                <c:pt idx="8">
                  <c:v>Retriever</c:v>
                </c:pt>
                <c:pt idx="9">
                  <c:v>French Bulldog</c:v>
                </c:pt>
              </c:strCache>
            </c:strRef>
          </c:cat>
          <c:val>
            <c:numRef>
              <c:f>'[Chart in Microsoft PowerPoint]Sheet1'!$K$2:$K$11</c:f>
              <c:numCache>
                <c:formatCode>General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B349-4F2C-9B9A-7497B8C2917C}"/>
            </c:ext>
          </c:extLst>
        </c:ser>
        <c:ser>
          <c:idx val="10"/>
          <c:order val="10"/>
          <c:tx>
            <c:strRef>
              <c:f>'[Chart in Microsoft PowerPoint]Sheet1'!$L$1</c:f>
              <c:strCache>
                <c:ptCount val="1"/>
              </c:strCache>
            </c:strRef>
          </c:tx>
          <c:spPr>
            <a:solidFill>
              <a:schemeClr val="accent5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'[Chart in Microsoft PowerPoint]Sheet1'!$A$2:$A$11</c:f>
              <c:strCache>
                <c:ptCount val="10"/>
                <c:pt idx="0">
                  <c:v>Black Labrador Retriever</c:v>
                </c:pt>
                <c:pt idx="1">
                  <c:v>Chocolate Labrador Retriever</c:v>
                </c:pt>
                <c:pt idx="2">
                  <c:v>Labrador Retriever</c:v>
                </c:pt>
                <c:pt idx="3">
                  <c:v>Yellow Labrador Retriever</c:v>
                </c:pt>
                <c:pt idx="4">
                  <c:v>German Shepherd Dog</c:v>
                </c:pt>
                <c:pt idx="5">
                  <c:v>Shepherd</c:v>
                </c:pt>
                <c:pt idx="6">
                  <c:v>White German Shepherd</c:v>
                </c:pt>
                <c:pt idx="7">
                  <c:v>Golden Retriever</c:v>
                </c:pt>
                <c:pt idx="8">
                  <c:v>Retriever</c:v>
                </c:pt>
                <c:pt idx="9">
                  <c:v>French Bulldog</c:v>
                </c:pt>
              </c:strCache>
            </c:strRef>
          </c:cat>
          <c:val>
            <c:numRef>
              <c:f>'[Chart in Microsoft PowerPoint]Sheet1'!$L$2:$L$11</c:f>
              <c:numCache>
                <c:formatCode>General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8</c:v>
                </c:pt>
                <c:pt idx="5">
                  <c:v>0</c:v>
                </c:pt>
                <c:pt idx="6">
                  <c:v>0</c:v>
                </c:pt>
                <c:pt idx="7">
                  <c:v>6</c:v>
                </c:pt>
                <c:pt idx="8">
                  <c:v>0</c:v>
                </c:pt>
                <c:pt idx="9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B349-4F2C-9B9A-7497B8C2917C}"/>
            </c:ext>
          </c:extLst>
        </c:ser>
        <c:ser>
          <c:idx val="11"/>
          <c:order val="11"/>
          <c:tx>
            <c:strRef>
              <c:f>'[Chart in Microsoft PowerPoint]Sheet1'!$M$1</c:f>
              <c:strCache>
                <c:ptCount val="1"/>
              </c:strCache>
            </c:strRef>
          </c:tx>
          <c:spPr>
            <a:solidFill>
              <a:schemeClr val="accent6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'[Chart in Microsoft PowerPoint]Sheet1'!$A$2:$A$11</c:f>
              <c:strCache>
                <c:ptCount val="10"/>
                <c:pt idx="0">
                  <c:v>Black Labrador Retriever</c:v>
                </c:pt>
                <c:pt idx="1">
                  <c:v>Chocolate Labrador Retriever</c:v>
                </c:pt>
                <c:pt idx="2">
                  <c:v>Labrador Retriever</c:v>
                </c:pt>
                <c:pt idx="3">
                  <c:v>Yellow Labrador Retriever</c:v>
                </c:pt>
                <c:pt idx="4">
                  <c:v>German Shepherd Dog</c:v>
                </c:pt>
                <c:pt idx="5">
                  <c:v>Shepherd</c:v>
                </c:pt>
                <c:pt idx="6">
                  <c:v>White German Shepherd</c:v>
                </c:pt>
                <c:pt idx="7">
                  <c:v>Golden Retriever</c:v>
                </c:pt>
                <c:pt idx="8">
                  <c:v>Retriever</c:v>
                </c:pt>
                <c:pt idx="9">
                  <c:v>French Bulldog</c:v>
                </c:pt>
              </c:strCache>
            </c:strRef>
          </c:cat>
          <c:val>
            <c:numRef>
              <c:f>'[Chart in Microsoft PowerPoint]Sheet1'!$M$2:$M$11</c:f>
              <c:numCache>
                <c:formatCode>General</c:formatCode>
                <c:ptCount val="1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3</c:v>
                </c:pt>
                <c:pt idx="8">
                  <c:v>3</c:v>
                </c:pt>
                <c:pt idx="9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B349-4F2C-9B9A-7497B8C2917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466841679"/>
        <c:axId val="1466844079"/>
      </c:barChart>
      <c:catAx>
        <c:axId val="146684167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66844079"/>
        <c:crosses val="autoZero"/>
        <c:auto val="1"/>
        <c:lblAlgn val="ctr"/>
        <c:lblOffset val="100"/>
        <c:noMultiLvlLbl val="0"/>
      </c:catAx>
      <c:valAx>
        <c:axId val="1466844079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6684167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800" dirty="0" err="1"/>
              <a:t>Buttom</a:t>
            </a:r>
            <a:r>
              <a:rPr lang="en-US" sz="2800" dirty="0"/>
              <a:t> 10 cat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'[Chart in Microsoft PowerPoint]Sheet1'!$B$2:$B$3</c:f>
              <c:strCache>
                <c:ptCount val="2"/>
                <c:pt idx="0">
                  <c:v>AltBreedName</c:v>
                </c:pt>
                <c:pt idx="1">
                  <c:v>AltBreedName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'[Chart in Microsoft PowerPoint]Sheet1'!$A$4:$A$11</c:f>
              <c:strCache>
                <c:ptCount val="8"/>
                <c:pt idx="0">
                  <c:v>American Wirehair</c:v>
                </c:pt>
                <c:pt idx="1">
                  <c:v>Korat</c:v>
                </c:pt>
                <c:pt idx="2">
                  <c:v>LaPerm</c:v>
                </c:pt>
                <c:pt idx="3">
                  <c:v>Burmilla</c:v>
                </c:pt>
                <c:pt idx="4">
                  <c:v>Turkish Van</c:v>
                </c:pt>
                <c:pt idx="5">
                  <c:v>Bobtail</c:v>
                </c:pt>
                <c:pt idx="6">
                  <c:v>Havana</c:v>
                </c:pt>
                <c:pt idx="7">
                  <c:v>Bombay</c:v>
                </c:pt>
              </c:strCache>
            </c:strRef>
          </c:cat>
          <c:val>
            <c:numRef>
              <c:f>'[Chart in Microsoft PowerPoint]Sheet1'!$B$4:$B$11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F21-4088-BD6D-6A533A632356}"/>
            </c:ext>
          </c:extLst>
        </c:ser>
        <c:ser>
          <c:idx val="1"/>
          <c:order val="1"/>
          <c:tx>
            <c:strRef>
              <c:f>'[Chart in Microsoft PowerPoint]Sheet1'!$C$2:$C$3</c:f>
              <c:strCache>
                <c:ptCount val="2"/>
                <c:pt idx="0">
                  <c:v>Group1</c:v>
                </c:pt>
                <c:pt idx="1">
                  <c:v>LapCat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'[Chart in Microsoft PowerPoint]Sheet1'!$A$4:$A$11</c:f>
              <c:strCache>
                <c:ptCount val="8"/>
                <c:pt idx="0">
                  <c:v>American Wirehair</c:v>
                </c:pt>
                <c:pt idx="1">
                  <c:v>Korat</c:v>
                </c:pt>
                <c:pt idx="2">
                  <c:v>LaPerm</c:v>
                </c:pt>
                <c:pt idx="3">
                  <c:v>Burmilla</c:v>
                </c:pt>
                <c:pt idx="4">
                  <c:v>Turkish Van</c:v>
                </c:pt>
                <c:pt idx="5">
                  <c:v>Bobtail</c:v>
                </c:pt>
                <c:pt idx="6">
                  <c:v>Havana</c:v>
                </c:pt>
                <c:pt idx="7">
                  <c:v>Bombay</c:v>
                </c:pt>
              </c:strCache>
            </c:strRef>
          </c:cat>
          <c:val>
            <c:numRef>
              <c:f>'[Chart in Microsoft PowerPoint]Sheet1'!$C$4:$C$11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F21-4088-BD6D-6A533A632356}"/>
            </c:ext>
          </c:extLst>
        </c:ser>
        <c:ser>
          <c:idx val="2"/>
          <c:order val="2"/>
          <c:tx>
            <c:strRef>
              <c:f>'[Chart in Microsoft PowerPoint]Sheet1'!$D$2:$D$3</c:f>
              <c:strCache>
                <c:ptCount val="2"/>
                <c:pt idx="0">
                  <c:v>Group2</c:v>
                </c:pt>
                <c:pt idx="1">
                  <c:v>Fur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'[Chart in Microsoft PowerPoint]Sheet1'!$A$4:$A$11</c:f>
              <c:strCache>
                <c:ptCount val="8"/>
                <c:pt idx="0">
                  <c:v>American Wirehair</c:v>
                </c:pt>
                <c:pt idx="1">
                  <c:v>Korat</c:v>
                </c:pt>
                <c:pt idx="2">
                  <c:v>LaPerm</c:v>
                </c:pt>
                <c:pt idx="3">
                  <c:v>Burmilla</c:v>
                </c:pt>
                <c:pt idx="4">
                  <c:v>Turkish Van</c:v>
                </c:pt>
                <c:pt idx="5">
                  <c:v>Bobtail</c:v>
                </c:pt>
                <c:pt idx="6">
                  <c:v>Havana</c:v>
                </c:pt>
                <c:pt idx="7">
                  <c:v>Bombay</c:v>
                </c:pt>
              </c:strCache>
            </c:strRef>
          </c:cat>
          <c:val>
            <c:numRef>
              <c:f>'[Chart in Microsoft PowerPoint]Sheet1'!$D$4:$D$11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F21-4088-BD6D-6A533A632356}"/>
            </c:ext>
          </c:extLst>
        </c:ser>
        <c:ser>
          <c:idx val="3"/>
          <c:order val="3"/>
          <c:tx>
            <c:strRef>
              <c:f>'[Chart in Microsoft PowerPoint]Sheet1'!$E$2:$E$3</c:f>
              <c:strCache>
                <c:ptCount val="2"/>
                <c:pt idx="0">
                  <c:v>MaleWtKg</c:v>
                </c:pt>
                <c:pt idx="1">
                  <c:v>MaleWtKg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'[Chart in Microsoft PowerPoint]Sheet1'!$A$4:$A$11</c:f>
              <c:strCache>
                <c:ptCount val="8"/>
                <c:pt idx="0">
                  <c:v>American Wirehair</c:v>
                </c:pt>
                <c:pt idx="1">
                  <c:v>Korat</c:v>
                </c:pt>
                <c:pt idx="2">
                  <c:v>LaPerm</c:v>
                </c:pt>
                <c:pt idx="3">
                  <c:v>Burmilla</c:v>
                </c:pt>
                <c:pt idx="4">
                  <c:v>Turkish Van</c:v>
                </c:pt>
                <c:pt idx="5">
                  <c:v>Bobtail</c:v>
                </c:pt>
                <c:pt idx="6">
                  <c:v>Havana</c:v>
                </c:pt>
                <c:pt idx="7">
                  <c:v>Bombay</c:v>
                </c:pt>
              </c:strCache>
            </c:strRef>
          </c:cat>
          <c:val>
            <c:numRef>
              <c:f>'[Chart in Microsoft PowerPoint]Sheet1'!$E$4:$E$11</c:f>
              <c:numCache>
                <c:formatCode>General</c:formatCode>
                <c:ptCount val="8"/>
                <c:pt idx="0">
                  <c:v>6</c:v>
                </c:pt>
                <c:pt idx="1">
                  <c:v>4</c:v>
                </c:pt>
                <c:pt idx="2">
                  <c:v>4</c:v>
                </c:pt>
                <c:pt idx="3">
                  <c:v>5</c:v>
                </c:pt>
                <c:pt idx="4">
                  <c:v>6</c:v>
                </c:pt>
                <c:pt idx="5">
                  <c:v>6</c:v>
                </c:pt>
                <c:pt idx="6">
                  <c:v>4</c:v>
                </c:pt>
                <c:pt idx="7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DF21-4088-BD6D-6A533A632356}"/>
            </c:ext>
          </c:extLst>
        </c:ser>
        <c:ser>
          <c:idx val="4"/>
          <c:order val="4"/>
          <c:tx>
            <c:strRef>
              <c:f>'[Chart in Microsoft PowerPoint]Sheet1'!$F$2:$F$3</c:f>
              <c:strCache>
                <c:ptCount val="2"/>
                <c:pt idx="0">
                  <c:v>Temperment</c:v>
                </c:pt>
                <c:pt idx="1">
                  <c:v>Temperment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'[Chart in Microsoft PowerPoint]Sheet1'!$A$4:$A$11</c:f>
              <c:strCache>
                <c:ptCount val="8"/>
                <c:pt idx="0">
                  <c:v>American Wirehair</c:v>
                </c:pt>
                <c:pt idx="1">
                  <c:v>Korat</c:v>
                </c:pt>
                <c:pt idx="2">
                  <c:v>LaPerm</c:v>
                </c:pt>
                <c:pt idx="3">
                  <c:v>Burmilla</c:v>
                </c:pt>
                <c:pt idx="4">
                  <c:v>Turkish Van</c:v>
                </c:pt>
                <c:pt idx="5">
                  <c:v>Bobtail</c:v>
                </c:pt>
                <c:pt idx="6">
                  <c:v>Havana</c:v>
                </c:pt>
                <c:pt idx="7">
                  <c:v>Bombay</c:v>
                </c:pt>
              </c:strCache>
            </c:strRef>
          </c:cat>
          <c:val>
            <c:numRef>
              <c:f>'[Chart in Microsoft PowerPoint]Sheet1'!$F$4:$F$11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F21-4088-BD6D-6A533A632356}"/>
            </c:ext>
          </c:extLst>
        </c:ser>
        <c:ser>
          <c:idx val="5"/>
          <c:order val="5"/>
          <c:tx>
            <c:strRef>
              <c:f>'[Chart in Microsoft PowerPoint]Sheet1'!$G$2:$G$3</c:f>
              <c:strCache>
                <c:ptCount val="2"/>
                <c:pt idx="0">
                  <c:v>AvgPupPrice</c:v>
                </c:pt>
                <c:pt idx="1">
                  <c:v>AvgKittenPrice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'[Chart in Microsoft PowerPoint]Sheet1'!$A$4:$A$11</c:f>
              <c:strCache>
                <c:ptCount val="8"/>
                <c:pt idx="0">
                  <c:v>American Wirehair</c:v>
                </c:pt>
                <c:pt idx="1">
                  <c:v>Korat</c:v>
                </c:pt>
                <c:pt idx="2">
                  <c:v>LaPerm</c:v>
                </c:pt>
                <c:pt idx="3">
                  <c:v>Burmilla</c:v>
                </c:pt>
                <c:pt idx="4">
                  <c:v>Turkish Van</c:v>
                </c:pt>
                <c:pt idx="5">
                  <c:v>Bobtail</c:v>
                </c:pt>
                <c:pt idx="6">
                  <c:v>Havana</c:v>
                </c:pt>
                <c:pt idx="7">
                  <c:v>Bombay</c:v>
                </c:pt>
              </c:strCache>
            </c:strRef>
          </c:cat>
          <c:val>
            <c:numRef>
              <c:f>'[Chart in Microsoft PowerPoint]Sheet1'!$G$4:$G$11</c:f>
              <c:numCache>
                <c:formatCode>General</c:formatCode>
                <c:ptCount val="8"/>
                <c:pt idx="0">
                  <c:v>1000</c:v>
                </c:pt>
                <c:pt idx="1">
                  <c:v>600</c:v>
                </c:pt>
                <c:pt idx="2">
                  <c:v>500</c:v>
                </c:pt>
                <c:pt idx="3">
                  <c:v>600</c:v>
                </c:pt>
                <c:pt idx="4">
                  <c:v>500</c:v>
                </c:pt>
                <c:pt idx="5">
                  <c:v>800</c:v>
                </c:pt>
                <c:pt idx="6">
                  <c:v>900</c:v>
                </c:pt>
                <c:pt idx="7">
                  <c:v>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DF21-4088-BD6D-6A533A632356}"/>
            </c:ext>
          </c:extLst>
        </c:ser>
        <c:ser>
          <c:idx val="6"/>
          <c:order val="6"/>
          <c:tx>
            <c:strRef>
              <c:f>'[Chart in Microsoft PowerPoint]Sheet1'!$H$2:$H$3</c:f>
              <c:strCache>
                <c:ptCount val="2"/>
                <c:pt idx="0">
                  <c:v>Intelligence</c:v>
                </c:pt>
                <c:pt idx="1">
                  <c:v>MalaysiaPopularity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'[Chart in Microsoft PowerPoint]Sheet1'!$A$4:$A$11</c:f>
              <c:strCache>
                <c:ptCount val="8"/>
                <c:pt idx="0">
                  <c:v>American Wirehair</c:v>
                </c:pt>
                <c:pt idx="1">
                  <c:v>Korat</c:v>
                </c:pt>
                <c:pt idx="2">
                  <c:v>LaPerm</c:v>
                </c:pt>
                <c:pt idx="3">
                  <c:v>Burmilla</c:v>
                </c:pt>
                <c:pt idx="4">
                  <c:v>Turkish Van</c:v>
                </c:pt>
                <c:pt idx="5">
                  <c:v>Bobtail</c:v>
                </c:pt>
                <c:pt idx="6">
                  <c:v>Havana</c:v>
                </c:pt>
                <c:pt idx="7">
                  <c:v>Bombay</c:v>
                </c:pt>
              </c:strCache>
            </c:strRef>
          </c:cat>
          <c:val>
            <c:numRef>
              <c:f>'[Chart in Microsoft PowerPoint]Sheet1'!$H$4:$H$11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DF21-4088-BD6D-6A533A632356}"/>
            </c:ext>
          </c:extLst>
        </c:ser>
        <c:ser>
          <c:idx val="7"/>
          <c:order val="7"/>
          <c:tx>
            <c:strRef>
              <c:f>'[Chart in Microsoft PowerPoint]Sheet1'!$I$2:$I$3</c:f>
              <c:strCache>
                <c:ptCount val="2"/>
                <c:pt idx="0">
                  <c:v>Watchdog</c:v>
                </c:pt>
                <c:pt idx="1">
                  <c:v>PopularityUS2017</c:v>
                </c:pt>
              </c:strCache>
            </c:strRef>
          </c:tx>
          <c:spPr>
            <a:solidFill>
              <a:schemeClr val="accent2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'[Chart in Microsoft PowerPoint]Sheet1'!$A$4:$A$11</c:f>
              <c:strCache>
                <c:ptCount val="8"/>
                <c:pt idx="0">
                  <c:v>American Wirehair</c:v>
                </c:pt>
                <c:pt idx="1">
                  <c:v>Korat</c:v>
                </c:pt>
                <c:pt idx="2">
                  <c:v>LaPerm</c:v>
                </c:pt>
                <c:pt idx="3">
                  <c:v>Burmilla</c:v>
                </c:pt>
                <c:pt idx="4">
                  <c:v>Turkish Van</c:v>
                </c:pt>
                <c:pt idx="5">
                  <c:v>Bobtail</c:v>
                </c:pt>
                <c:pt idx="6">
                  <c:v>Havana</c:v>
                </c:pt>
                <c:pt idx="7">
                  <c:v>Bombay</c:v>
                </c:pt>
              </c:strCache>
            </c:strRef>
          </c:cat>
          <c:val>
            <c:numRef>
              <c:f>'[Chart in Microsoft PowerPoint]Sheet1'!$I$4:$I$11</c:f>
              <c:numCache>
                <c:formatCode>General</c:formatCode>
                <c:ptCount val="8"/>
                <c:pt idx="0">
                  <c:v>41</c:v>
                </c:pt>
                <c:pt idx="1">
                  <c:v>40</c:v>
                </c:pt>
                <c:pt idx="2">
                  <c:v>39</c:v>
                </c:pt>
                <c:pt idx="3">
                  <c:v>38</c:v>
                </c:pt>
                <c:pt idx="4">
                  <c:v>37</c:v>
                </c:pt>
                <c:pt idx="5">
                  <c:v>36</c:v>
                </c:pt>
                <c:pt idx="6">
                  <c:v>35</c:v>
                </c:pt>
                <c:pt idx="7">
                  <c:v>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DF21-4088-BD6D-6A533A63235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493123743"/>
        <c:axId val="1493114623"/>
      </c:barChart>
      <c:catAx>
        <c:axId val="149312374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93114623"/>
        <c:crosses val="autoZero"/>
        <c:auto val="1"/>
        <c:lblAlgn val="ctr"/>
        <c:lblOffset val="100"/>
        <c:noMultiLvlLbl val="0"/>
      </c:catAx>
      <c:valAx>
        <c:axId val="149311462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93123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3200" dirty="0" err="1"/>
              <a:t>Buttom</a:t>
            </a:r>
            <a:r>
              <a:rPr lang="en-US" sz="3200" baseline="0" dirty="0"/>
              <a:t> 10 dogs </a:t>
            </a:r>
            <a:endParaRPr lang="en-US" sz="32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'[Chart in Microsoft PowerPoint]Sheet1'!$B$1</c:f>
              <c:strCache>
                <c:ptCount val="1"/>
                <c:pt idx="0">
                  <c:v>AltBreedName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'[Chart in Microsoft PowerPoint]Sheet1'!$A$2:$A$10</c:f>
              <c:strCache>
                <c:ptCount val="9"/>
                <c:pt idx="0">
                  <c:v>Norwegian Lundehund</c:v>
                </c:pt>
                <c:pt idx="1">
                  <c:v>Sloughi</c:v>
                </c:pt>
                <c:pt idx="2">
                  <c:v>Foxhound</c:v>
                </c:pt>
                <c:pt idx="3">
                  <c:v>Hound</c:v>
                </c:pt>
                <c:pt idx="4">
                  <c:v>Otterhound</c:v>
                </c:pt>
                <c:pt idx="5">
                  <c:v>Cirneco dell'Etna</c:v>
                </c:pt>
                <c:pt idx="6">
                  <c:v>Harrier</c:v>
                </c:pt>
                <c:pt idx="7">
                  <c:v>Dandi Dinmont Terrier</c:v>
                </c:pt>
                <c:pt idx="8">
                  <c:v>Chinook</c:v>
                </c:pt>
              </c:strCache>
            </c:strRef>
          </c:cat>
          <c:val>
            <c:numRef>
              <c:f>'[Chart in Microsoft PowerPoint]Sheet1'!$B$2:$B$10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F42-4FB6-B9F2-34B32F69E3E3}"/>
            </c:ext>
          </c:extLst>
        </c:ser>
        <c:ser>
          <c:idx val="1"/>
          <c:order val="1"/>
          <c:tx>
            <c:strRef>
              <c:f>'[Chart in Microsoft PowerPoint]Sheet1'!$C$1</c:f>
              <c:strCache>
                <c:ptCount val="1"/>
                <c:pt idx="0">
                  <c:v>Group1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'[Chart in Microsoft PowerPoint]Sheet1'!$A$2:$A$10</c:f>
              <c:strCache>
                <c:ptCount val="9"/>
                <c:pt idx="0">
                  <c:v>Norwegian Lundehund</c:v>
                </c:pt>
                <c:pt idx="1">
                  <c:v>Sloughi</c:v>
                </c:pt>
                <c:pt idx="2">
                  <c:v>Foxhound</c:v>
                </c:pt>
                <c:pt idx="3">
                  <c:v>Hound</c:v>
                </c:pt>
                <c:pt idx="4">
                  <c:v>Otterhound</c:v>
                </c:pt>
                <c:pt idx="5">
                  <c:v>Cirneco dell'Etna</c:v>
                </c:pt>
                <c:pt idx="6">
                  <c:v>Harrier</c:v>
                </c:pt>
                <c:pt idx="7">
                  <c:v>Dandi Dinmont Terrier</c:v>
                </c:pt>
                <c:pt idx="8">
                  <c:v>Chinook</c:v>
                </c:pt>
              </c:strCache>
            </c:strRef>
          </c:cat>
          <c:val>
            <c:numRef>
              <c:f>'[Chart in Microsoft PowerPoint]Sheet1'!$C$2:$C$10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F42-4FB6-B9F2-34B32F69E3E3}"/>
            </c:ext>
          </c:extLst>
        </c:ser>
        <c:ser>
          <c:idx val="2"/>
          <c:order val="2"/>
          <c:tx>
            <c:strRef>
              <c:f>'[Chart in Microsoft PowerPoint]Sheet1'!$D$1</c:f>
              <c:strCache>
                <c:ptCount val="1"/>
                <c:pt idx="0">
                  <c:v>Group2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'[Chart in Microsoft PowerPoint]Sheet1'!$A$2:$A$10</c:f>
              <c:strCache>
                <c:ptCount val="9"/>
                <c:pt idx="0">
                  <c:v>Norwegian Lundehund</c:v>
                </c:pt>
                <c:pt idx="1">
                  <c:v>Sloughi</c:v>
                </c:pt>
                <c:pt idx="2">
                  <c:v>Foxhound</c:v>
                </c:pt>
                <c:pt idx="3">
                  <c:v>Hound</c:v>
                </c:pt>
                <c:pt idx="4">
                  <c:v>Otterhound</c:v>
                </c:pt>
                <c:pt idx="5">
                  <c:v>Cirneco dell'Etna</c:v>
                </c:pt>
                <c:pt idx="6">
                  <c:v>Harrier</c:v>
                </c:pt>
                <c:pt idx="7">
                  <c:v>Dandi Dinmont Terrier</c:v>
                </c:pt>
                <c:pt idx="8">
                  <c:v>Chinook</c:v>
                </c:pt>
              </c:strCache>
            </c:strRef>
          </c:cat>
          <c:val>
            <c:numRef>
              <c:f>'[Chart in Microsoft PowerPoint]Sheet1'!$D$2:$D$10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F42-4FB6-B9F2-34B32F69E3E3}"/>
            </c:ext>
          </c:extLst>
        </c:ser>
        <c:ser>
          <c:idx val="3"/>
          <c:order val="3"/>
          <c:tx>
            <c:strRef>
              <c:f>'[Chart in Microsoft PowerPoint]Sheet1'!$E$1</c:f>
              <c:strCache>
                <c:ptCount val="1"/>
                <c:pt idx="0">
                  <c:v>MaleWtKg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'[Chart in Microsoft PowerPoint]Sheet1'!$A$2:$A$10</c:f>
              <c:strCache>
                <c:ptCount val="9"/>
                <c:pt idx="0">
                  <c:v>Norwegian Lundehund</c:v>
                </c:pt>
                <c:pt idx="1">
                  <c:v>Sloughi</c:v>
                </c:pt>
                <c:pt idx="2">
                  <c:v>Foxhound</c:v>
                </c:pt>
                <c:pt idx="3">
                  <c:v>Hound</c:v>
                </c:pt>
                <c:pt idx="4">
                  <c:v>Otterhound</c:v>
                </c:pt>
                <c:pt idx="5">
                  <c:v>Cirneco dell'Etna</c:v>
                </c:pt>
                <c:pt idx="6">
                  <c:v>Harrier</c:v>
                </c:pt>
                <c:pt idx="7">
                  <c:v>Dandi Dinmont Terrier</c:v>
                </c:pt>
                <c:pt idx="8">
                  <c:v>Chinook</c:v>
                </c:pt>
              </c:strCache>
            </c:strRef>
          </c:cat>
          <c:val>
            <c:numRef>
              <c:f>'[Chart in Microsoft PowerPoint]Sheet1'!$E$2:$E$10</c:f>
              <c:numCache>
                <c:formatCode>General</c:formatCode>
                <c:ptCount val="9"/>
                <c:pt idx="0">
                  <c:v>8</c:v>
                </c:pt>
                <c:pt idx="1">
                  <c:v>28</c:v>
                </c:pt>
                <c:pt idx="2">
                  <c:v>32</c:v>
                </c:pt>
                <c:pt idx="3">
                  <c:v>32</c:v>
                </c:pt>
                <c:pt idx="4">
                  <c:v>41</c:v>
                </c:pt>
                <c:pt idx="5">
                  <c:v>11</c:v>
                </c:pt>
                <c:pt idx="6">
                  <c:v>22</c:v>
                </c:pt>
                <c:pt idx="7">
                  <c:v>10</c:v>
                </c:pt>
                <c:pt idx="8">
                  <c:v>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8F42-4FB6-B9F2-34B32F69E3E3}"/>
            </c:ext>
          </c:extLst>
        </c:ser>
        <c:ser>
          <c:idx val="4"/>
          <c:order val="4"/>
          <c:tx>
            <c:strRef>
              <c:f>'[Chart in Microsoft PowerPoint]Sheet1'!$F$1</c:f>
              <c:strCache>
                <c:ptCount val="1"/>
                <c:pt idx="0">
                  <c:v>Temperment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'[Chart in Microsoft PowerPoint]Sheet1'!$A$2:$A$10</c:f>
              <c:strCache>
                <c:ptCount val="9"/>
                <c:pt idx="0">
                  <c:v>Norwegian Lundehund</c:v>
                </c:pt>
                <c:pt idx="1">
                  <c:v>Sloughi</c:v>
                </c:pt>
                <c:pt idx="2">
                  <c:v>Foxhound</c:v>
                </c:pt>
                <c:pt idx="3">
                  <c:v>Hound</c:v>
                </c:pt>
                <c:pt idx="4">
                  <c:v>Otterhound</c:v>
                </c:pt>
                <c:pt idx="5">
                  <c:v>Cirneco dell'Etna</c:v>
                </c:pt>
                <c:pt idx="6">
                  <c:v>Harrier</c:v>
                </c:pt>
                <c:pt idx="7">
                  <c:v>Dandi Dinmont Terrier</c:v>
                </c:pt>
                <c:pt idx="8">
                  <c:v>Chinook</c:v>
                </c:pt>
              </c:strCache>
            </c:strRef>
          </c:cat>
          <c:val>
            <c:numRef>
              <c:f>'[Chart in Microsoft PowerPoint]Sheet1'!$F$2:$F$10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F42-4FB6-B9F2-34B32F69E3E3}"/>
            </c:ext>
          </c:extLst>
        </c:ser>
        <c:ser>
          <c:idx val="5"/>
          <c:order val="5"/>
          <c:tx>
            <c:strRef>
              <c:f>'[Chart in Microsoft PowerPoint]Sheet1'!$G$1</c:f>
              <c:strCache>
                <c:ptCount val="1"/>
                <c:pt idx="0">
                  <c:v>AvgPupPrice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'[Chart in Microsoft PowerPoint]Sheet1'!$A$2:$A$10</c:f>
              <c:strCache>
                <c:ptCount val="9"/>
                <c:pt idx="0">
                  <c:v>Norwegian Lundehund</c:v>
                </c:pt>
                <c:pt idx="1">
                  <c:v>Sloughi</c:v>
                </c:pt>
                <c:pt idx="2">
                  <c:v>Foxhound</c:v>
                </c:pt>
                <c:pt idx="3">
                  <c:v>Hound</c:v>
                </c:pt>
                <c:pt idx="4">
                  <c:v>Otterhound</c:v>
                </c:pt>
                <c:pt idx="5">
                  <c:v>Cirneco dell'Etna</c:v>
                </c:pt>
                <c:pt idx="6">
                  <c:v>Harrier</c:v>
                </c:pt>
                <c:pt idx="7">
                  <c:v>Dandi Dinmont Terrier</c:v>
                </c:pt>
                <c:pt idx="8">
                  <c:v>Chinook</c:v>
                </c:pt>
              </c:strCache>
            </c:strRef>
          </c:cat>
          <c:val>
            <c:numRef>
              <c:f>'[Chart in Microsoft PowerPoint]Sheet1'!$G$2:$G$10</c:f>
              <c:numCache>
                <c:formatCode>General</c:formatCode>
                <c:ptCount val="9"/>
                <c:pt idx="0">
                  <c:v>500</c:v>
                </c:pt>
                <c:pt idx="1">
                  <c:v>900</c:v>
                </c:pt>
                <c:pt idx="2">
                  <c:v>500</c:v>
                </c:pt>
                <c:pt idx="3">
                  <c:v>500</c:v>
                </c:pt>
                <c:pt idx="4">
                  <c:v>550</c:v>
                </c:pt>
                <c:pt idx="5">
                  <c:v>900</c:v>
                </c:pt>
                <c:pt idx="6">
                  <c:v>350</c:v>
                </c:pt>
                <c:pt idx="7">
                  <c:v>1500</c:v>
                </c:pt>
                <c:pt idx="8">
                  <c:v>900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8F42-4FB6-B9F2-34B32F69E3E3}"/>
            </c:ext>
          </c:extLst>
        </c:ser>
        <c:ser>
          <c:idx val="6"/>
          <c:order val="6"/>
          <c:tx>
            <c:strRef>
              <c:f>'[Chart in Microsoft PowerPoint]Sheet1'!$H$1</c:f>
              <c:strCache>
                <c:ptCount val="1"/>
                <c:pt idx="0">
                  <c:v>Intelligence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'[Chart in Microsoft PowerPoint]Sheet1'!$A$2:$A$10</c:f>
              <c:strCache>
                <c:ptCount val="9"/>
                <c:pt idx="0">
                  <c:v>Norwegian Lundehund</c:v>
                </c:pt>
                <c:pt idx="1">
                  <c:v>Sloughi</c:v>
                </c:pt>
                <c:pt idx="2">
                  <c:v>Foxhound</c:v>
                </c:pt>
                <c:pt idx="3">
                  <c:v>Hound</c:v>
                </c:pt>
                <c:pt idx="4">
                  <c:v>Otterhound</c:v>
                </c:pt>
                <c:pt idx="5">
                  <c:v>Cirneco dell'Etna</c:v>
                </c:pt>
                <c:pt idx="6">
                  <c:v>Harrier</c:v>
                </c:pt>
                <c:pt idx="7">
                  <c:v>Dandi Dinmont Terrier</c:v>
                </c:pt>
                <c:pt idx="8">
                  <c:v>Chinook</c:v>
                </c:pt>
              </c:strCache>
            </c:strRef>
          </c:cat>
          <c:val>
            <c:numRef>
              <c:f>'[Chart in Microsoft PowerPoint]Sheet1'!$H$2:$H$10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46</c:v>
                </c:pt>
                <c:pt idx="3">
                  <c:v>46</c:v>
                </c:pt>
                <c:pt idx="4">
                  <c:v>46</c:v>
                </c:pt>
                <c:pt idx="5">
                  <c:v>0</c:v>
                </c:pt>
                <c:pt idx="6">
                  <c:v>0</c:v>
                </c:pt>
                <c:pt idx="7">
                  <c:v>62</c:v>
                </c:pt>
                <c:pt idx="8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F42-4FB6-B9F2-34B32F69E3E3}"/>
            </c:ext>
          </c:extLst>
        </c:ser>
        <c:ser>
          <c:idx val="7"/>
          <c:order val="7"/>
          <c:tx>
            <c:strRef>
              <c:f>'[Chart in Microsoft PowerPoint]Sheet1'!$I$1</c:f>
              <c:strCache>
                <c:ptCount val="1"/>
                <c:pt idx="0">
                  <c:v>Watchdog</c:v>
                </c:pt>
              </c:strCache>
            </c:strRef>
          </c:tx>
          <c:spPr>
            <a:solidFill>
              <a:schemeClr val="accent2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'[Chart in Microsoft PowerPoint]Sheet1'!$A$2:$A$10</c:f>
              <c:strCache>
                <c:ptCount val="9"/>
                <c:pt idx="0">
                  <c:v>Norwegian Lundehund</c:v>
                </c:pt>
                <c:pt idx="1">
                  <c:v>Sloughi</c:v>
                </c:pt>
                <c:pt idx="2">
                  <c:v>Foxhound</c:v>
                </c:pt>
                <c:pt idx="3">
                  <c:v>Hound</c:v>
                </c:pt>
                <c:pt idx="4">
                  <c:v>Otterhound</c:v>
                </c:pt>
                <c:pt idx="5">
                  <c:v>Cirneco dell'Etna</c:v>
                </c:pt>
                <c:pt idx="6">
                  <c:v>Harrier</c:v>
                </c:pt>
                <c:pt idx="7">
                  <c:v>Dandi Dinmont Terrier</c:v>
                </c:pt>
                <c:pt idx="8">
                  <c:v>Chinook</c:v>
                </c:pt>
              </c:strCache>
            </c:strRef>
          </c:cat>
          <c:val>
            <c:numRef>
              <c:f>'[Chart in Microsoft PowerPoint]Sheet1'!$I$2:$I$10</c:f>
              <c:numCache>
                <c:formatCode>General</c:formatCode>
                <c:ptCount val="9"/>
                <c:pt idx="0">
                  <c:v>4</c:v>
                </c:pt>
                <c:pt idx="1">
                  <c:v>5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3</c:v>
                </c:pt>
                <c:pt idx="6">
                  <c:v>2</c:v>
                </c:pt>
                <c:pt idx="7">
                  <c:v>3</c:v>
                </c:pt>
                <c:pt idx="8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8F42-4FB6-B9F2-34B32F69E3E3}"/>
            </c:ext>
          </c:extLst>
        </c:ser>
        <c:ser>
          <c:idx val="8"/>
          <c:order val="8"/>
          <c:tx>
            <c:strRef>
              <c:f>'[Chart in Microsoft PowerPoint]Sheet1'!$J$1</c:f>
              <c:strCache>
                <c:ptCount val="1"/>
                <c:pt idx="0">
                  <c:v>MalaysiaGuardedDog</c:v>
                </c:pt>
              </c:strCache>
            </c:strRef>
          </c:tx>
          <c:spPr>
            <a:solidFill>
              <a:schemeClr val="accent3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'[Chart in Microsoft PowerPoint]Sheet1'!$A$2:$A$10</c:f>
              <c:strCache>
                <c:ptCount val="9"/>
                <c:pt idx="0">
                  <c:v>Norwegian Lundehund</c:v>
                </c:pt>
                <c:pt idx="1">
                  <c:v>Sloughi</c:v>
                </c:pt>
                <c:pt idx="2">
                  <c:v>Foxhound</c:v>
                </c:pt>
                <c:pt idx="3">
                  <c:v>Hound</c:v>
                </c:pt>
                <c:pt idx="4">
                  <c:v>Otterhound</c:v>
                </c:pt>
                <c:pt idx="5">
                  <c:v>Cirneco dell'Etna</c:v>
                </c:pt>
                <c:pt idx="6">
                  <c:v>Harrier</c:v>
                </c:pt>
                <c:pt idx="7">
                  <c:v>Dandi Dinmont Terrier</c:v>
                </c:pt>
                <c:pt idx="8">
                  <c:v>Chinook</c:v>
                </c:pt>
              </c:strCache>
            </c:strRef>
          </c:cat>
          <c:val>
            <c:numRef>
              <c:f>'[Chart in Microsoft PowerPoint]Sheet1'!$J$2:$J$10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F42-4FB6-B9F2-34B32F69E3E3}"/>
            </c:ext>
          </c:extLst>
        </c:ser>
        <c:ser>
          <c:idx val="9"/>
          <c:order val="9"/>
          <c:tx>
            <c:strRef>
              <c:f>'[Chart in Microsoft PowerPoint]Sheet1'!$K$1</c:f>
              <c:strCache>
                <c:ptCount val="1"/>
                <c:pt idx="0">
                  <c:v>MalaysiaProhibitedDog</c:v>
                </c:pt>
              </c:strCache>
            </c:strRef>
          </c:tx>
          <c:spPr>
            <a:solidFill>
              <a:schemeClr val="accent4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'[Chart in Microsoft PowerPoint]Sheet1'!$A$2:$A$10</c:f>
              <c:strCache>
                <c:ptCount val="9"/>
                <c:pt idx="0">
                  <c:v>Norwegian Lundehund</c:v>
                </c:pt>
                <c:pt idx="1">
                  <c:v>Sloughi</c:v>
                </c:pt>
                <c:pt idx="2">
                  <c:v>Foxhound</c:v>
                </c:pt>
                <c:pt idx="3">
                  <c:v>Hound</c:v>
                </c:pt>
                <c:pt idx="4">
                  <c:v>Otterhound</c:v>
                </c:pt>
                <c:pt idx="5">
                  <c:v>Cirneco dell'Etna</c:v>
                </c:pt>
                <c:pt idx="6">
                  <c:v>Harrier</c:v>
                </c:pt>
                <c:pt idx="7">
                  <c:v>Dandi Dinmont Terrier</c:v>
                </c:pt>
                <c:pt idx="8">
                  <c:v>Chinook</c:v>
                </c:pt>
              </c:strCache>
            </c:strRef>
          </c:cat>
          <c:val>
            <c:numRef>
              <c:f>'[Chart in Microsoft PowerPoint]Sheet1'!$K$2:$K$10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8F42-4FB6-B9F2-34B32F69E3E3}"/>
            </c:ext>
          </c:extLst>
        </c:ser>
        <c:ser>
          <c:idx val="10"/>
          <c:order val="10"/>
          <c:tx>
            <c:strRef>
              <c:f>'[Chart in Microsoft PowerPoint]Sheet1'!$L$1</c:f>
              <c:strCache>
                <c:ptCount val="1"/>
                <c:pt idx="0">
                  <c:v>MalaysiaPopularity</c:v>
                </c:pt>
              </c:strCache>
            </c:strRef>
          </c:tx>
          <c:spPr>
            <a:solidFill>
              <a:schemeClr val="accent5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'[Chart in Microsoft PowerPoint]Sheet1'!$A$2:$A$10</c:f>
              <c:strCache>
                <c:ptCount val="9"/>
                <c:pt idx="0">
                  <c:v>Norwegian Lundehund</c:v>
                </c:pt>
                <c:pt idx="1">
                  <c:v>Sloughi</c:v>
                </c:pt>
                <c:pt idx="2">
                  <c:v>Foxhound</c:v>
                </c:pt>
                <c:pt idx="3">
                  <c:v>Hound</c:v>
                </c:pt>
                <c:pt idx="4">
                  <c:v>Otterhound</c:v>
                </c:pt>
                <c:pt idx="5">
                  <c:v>Cirneco dell'Etna</c:v>
                </c:pt>
                <c:pt idx="6">
                  <c:v>Harrier</c:v>
                </c:pt>
                <c:pt idx="7">
                  <c:v>Dandi Dinmont Terrier</c:v>
                </c:pt>
                <c:pt idx="8">
                  <c:v>Chinook</c:v>
                </c:pt>
              </c:strCache>
            </c:strRef>
          </c:cat>
          <c:val>
            <c:numRef>
              <c:f>'[Chart in Microsoft PowerPoint]Sheet1'!$L$2:$L$10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8F42-4FB6-B9F2-34B32F69E3E3}"/>
            </c:ext>
          </c:extLst>
        </c:ser>
        <c:ser>
          <c:idx val="11"/>
          <c:order val="11"/>
          <c:tx>
            <c:strRef>
              <c:f>'[Chart in Microsoft PowerPoint]Sheet1'!$M$1</c:f>
              <c:strCache>
                <c:ptCount val="1"/>
                <c:pt idx="0">
                  <c:v>PopularityUS2017</c:v>
                </c:pt>
              </c:strCache>
            </c:strRef>
          </c:tx>
          <c:spPr>
            <a:solidFill>
              <a:schemeClr val="accent6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'[Chart in Microsoft PowerPoint]Sheet1'!$A$2:$A$10</c:f>
              <c:strCache>
                <c:ptCount val="9"/>
                <c:pt idx="0">
                  <c:v>Norwegian Lundehund</c:v>
                </c:pt>
                <c:pt idx="1">
                  <c:v>Sloughi</c:v>
                </c:pt>
                <c:pt idx="2">
                  <c:v>Foxhound</c:v>
                </c:pt>
                <c:pt idx="3">
                  <c:v>Hound</c:v>
                </c:pt>
                <c:pt idx="4">
                  <c:v>Otterhound</c:v>
                </c:pt>
                <c:pt idx="5">
                  <c:v>Cirneco dell'Etna</c:v>
                </c:pt>
                <c:pt idx="6">
                  <c:v>Harrier</c:v>
                </c:pt>
                <c:pt idx="7">
                  <c:v>Dandi Dinmont Terrier</c:v>
                </c:pt>
                <c:pt idx="8">
                  <c:v>Chinook</c:v>
                </c:pt>
              </c:strCache>
            </c:strRef>
          </c:cat>
          <c:val>
            <c:numRef>
              <c:f>'[Chart in Microsoft PowerPoint]Sheet1'!$M$2:$M$10</c:f>
              <c:numCache>
                <c:formatCode>General</c:formatCode>
                <c:ptCount val="9"/>
                <c:pt idx="0">
                  <c:v>190</c:v>
                </c:pt>
                <c:pt idx="1">
                  <c:v>188</c:v>
                </c:pt>
                <c:pt idx="2">
                  <c:v>187</c:v>
                </c:pt>
                <c:pt idx="3">
                  <c:v>187</c:v>
                </c:pt>
                <c:pt idx="4">
                  <c:v>186</c:v>
                </c:pt>
                <c:pt idx="5">
                  <c:v>184</c:v>
                </c:pt>
                <c:pt idx="6">
                  <c:v>183</c:v>
                </c:pt>
                <c:pt idx="7">
                  <c:v>182</c:v>
                </c:pt>
                <c:pt idx="8">
                  <c:v>179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8F42-4FB6-B9F2-34B32F69E3E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49269744"/>
        <c:axId val="849272624"/>
      </c:barChart>
      <c:catAx>
        <c:axId val="8492697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49272624"/>
        <c:crosses val="autoZero"/>
        <c:auto val="1"/>
        <c:lblAlgn val="ctr"/>
        <c:lblOffset val="100"/>
        <c:noMultiLvlLbl val="0"/>
      </c:catAx>
      <c:valAx>
        <c:axId val="8492726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492697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E43FFBB-BF0C-48FA-BBA1-B89028F23407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3D406D6-1346-47AF-992C-27CD90A96316}">
      <dgm:prSet/>
      <dgm:spPr/>
      <dgm:t>
        <a:bodyPr/>
        <a:lstStyle/>
        <a:p>
          <a:r>
            <a:rPr lang="en-US"/>
            <a:t>Excel data analyzed using total quantity sold per breed</a:t>
          </a:r>
        </a:p>
      </dgm:t>
    </dgm:pt>
    <dgm:pt modelId="{9250E625-83FB-41C9-A4DF-E54385A9C2B4}" type="parTrans" cxnId="{FAEBE15A-7B21-48F5-B2AF-84B2E1424265}">
      <dgm:prSet/>
      <dgm:spPr/>
      <dgm:t>
        <a:bodyPr/>
        <a:lstStyle/>
        <a:p>
          <a:endParaRPr lang="en-US"/>
        </a:p>
      </dgm:t>
    </dgm:pt>
    <dgm:pt modelId="{FBCD0C8B-09AB-45A7-9260-7A41098ED008}" type="sibTrans" cxnId="{FAEBE15A-7B21-48F5-B2AF-84B2E1424265}">
      <dgm:prSet/>
      <dgm:spPr/>
      <dgm:t>
        <a:bodyPr/>
        <a:lstStyle/>
        <a:p>
          <a:endParaRPr lang="en-US"/>
        </a:p>
      </dgm:t>
    </dgm:pt>
    <dgm:pt modelId="{1F766FFA-9989-446D-A199-DB7EA217800F}">
      <dgm:prSet/>
      <dgm:spPr/>
      <dgm:t>
        <a:bodyPr/>
        <a:lstStyle/>
        <a:p>
          <a:r>
            <a:rPr lang="en-US"/>
            <a:t>Pivot-style grouping applied to summarize sales</a:t>
          </a:r>
        </a:p>
      </dgm:t>
    </dgm:pt>
    <dgm:pt modelId="{9B578D2D-9E4A-4A63-831A-48C9B6F91E1F}" type="parTrans" cxnId="{5BF4BBCE-B113-4EF9-B4F6-12C7CD11C90D}">
      <dgm:prSet/>
      <dgm:spPr/>
      <dgm:t>
        <a:bodyPr/>
        <a:lstStyle/>
        <a:p>
          <a:endParaRPr lang="en-US"/>
        </a:p>
      </dgm:t>
    </dgm:pt>
    <dgm:pt modelId="{890664A5-630D-42EB-A552-5A146E8C8348}" type="sibTrans" cxnId="{5BF4BBCE-B113-4EF9-B4F6-12C7CD11C90D}">
      <dgm:prSet/>
      <dgm:spPr/>
      <dgm:t>
        <a:bodyPr/>
        <a:lstStyle/>
        <a:p>
          <a:endParaRPr lang="en-US"/>
        </a:p>
      </dgm:t>
    </dgm:pt>
    <dgm:pt modelId="{00EA408A-D503-4C1E-A5D0-CF84FE204992}">
      <dgm:prSet/>
      <dgm:spPr/>
      <dgm:t>
        <a:bodyPr/>
        <a:lstStyle/>
        <a:p>
          <a:r>
            <a:rPr lang="en-US"/>
            <a:t>Data segmented into dog and cat breeds</a:t>
          </a:r>
        </a:p>
      </dgm:t>
    </dgm:pt>
    <dgm:pt modelId="{3147C48A-2E07-48A2-BEBD-4C04073AB662}" type="parTrans" cxnId="{E2B0DDF4-9336-46F7-8F00-D8CB61B5C204}">
      <dgm:prSet/>
      <dgm:spPr/>
      <dgm:t>
        <a:bodyPr/>
        <a:lstStyle/>
        <a:p>
          <a:endParaRPr lang="en-US"/>
        </a:p>
      </dgm:t>
    </dgm:pt>
    <dgm:pt modelId="{A6F99B29-554A-4E13-8F0C-8F67E103FC8C}" type="sibTrans" cxnId="{E2B0DDF4-9336-46F7-8F00-D8CB61B5C204}">
      <dgm:prSet/>
      <dgm:spPr/>
      <dgm:t>
        <a:bodyPr/>
        <a:lstStyle/>
        <a:p>
          <a:endParaRPr lang="en-US"/>
        </a:p>
      </dgm:t>
    </dgm:pt>
    <dgm:pt modelId="{F8CF255D-40A5-459C-8404-3A42EAF9176C}" type="pres">
      <dgm:prSet presAssocID="{2E43FFBB-BF0C-48FA-BBA1-B89028F23407}" presName="outerComposite" presStyleCnt="0">
        <dgm:presLayoutVars>
          <dgm:chMax val="5"/>
          <dgm:dir/>
          <dgm:resizeHandles val="exact"/>
        </dgm:presLayoutVars>
      </dgm:prSet>
      <dgm:spPr/>
    </dgm:pt>
    <dgm:pt modelId="{D05367CD-7851-4860-B605-D929C9369EC5}" type="pres">
      <dgm:prSet presAssocID="{2E43FFBB-BF0C-48FA-BBA1-B89028F23407}" presName="dummyMaxCanvas" presStyleCnt="0">
        <dgm:presLayoutVars/>
      </dgm:prSet>
      <dgm:spPr/>
    </dgm:pt>
    <dgm:pt modelId="{7C268597-A444-4B7D-8945-E48CEA59CA4F}" type="pres">
      <dgm:prSet presAssocID="{2E43FFBB-BF0C-48FA-BBA1-B89028F23407}" presName="ThreeNodes_1" presStyleLbl="node1" presStyleIdx="0" presStyleCnt="3">
        <dgm:presLayoutVars>
          <dgm:bulletEnabled val="1"/>
        </dgm:presLayoutVars>
      </dgm:prSet>
      <dgm:spPr/>
    </dgm:pt>
    <dgm:pt modelId="{B6C5DE74-5EDF-457D-9989-3BD72B45D2FB}" type="pres">
      <dgm:prSet presAssocID="{2E43FFBB-BF0C-48FA-BBA1-B89028F23407}" presName="ThreeNodes_2" presStyleLbl="node1" presStyleIdx="1" presStyleCnt="3">
        <dgm:presLayoutVars>
          <dgm:bulletEnabled val="1"/>
        </dgm:presLayoutVars>
      </dgm:prSet>
      <dgm:spPr/>
    </dgm:pt>
    <dgm:pt modelId="{D4F3796B-E7B2-48E0-AF20-EA1BD4C38943}" type="pres">
      <dgm:prSet presAssocID="{2E43FFBB-BF0C-48FA-BBA1-B89028F23407}" presName="ThreeNodes_3" presStyleLbl="node1" presStyleIdx="2" presStyleCnt="3">
        <dgm:presLayoutVars>
          <dgm:bulletEnabled val="1"/>
        </dgm:presLayoutVars>
      </dgm:prSet>
      <dgm:spPr/>
    </dgm:pt>
    <dgm:pt modelId="{1F4D708F-92A0-4873-83F5-1107976FF54E}" type="pres">
      <dgm:prSet presAssocID="{2E43FFBB-BF0C-48FA-BBA1-B89028F23407}" presName="ThreeConn_1-2" presStyleLbl="fgAccFollowNode1" presStyleIdx="0" presStyleCnt="2">
        <dgm:presLayoutVars>
          <dgm:bulletEnabled val="1"/>
        </dgm:presLayoutVars>
      </dgm:prSet>
      <dgm:spPr/>
    </dgm:pt>
    <dgm:pt modelId="{A8C8A1C2-993B-4F0B-86BE-202F803DB4CC}" type="pres">
      <dgm:prSet presAssocID="{2E43FFBB-BF0C-48FA-BBA1-B89028F23407}" presName="ThreeConn_2-3" presStyleLbl="fgAccFollowNode1" presStyleIdx="1" presStyleCnt="2">
        <dgm:presLayoutVars>
          <dgm:bulletEnabled val="1"/>
        </dgm:presLayoutVars>
      </dgm:prSet>
      <dgm:spPr/>
    </dgm:pt>
    <dgm:pt modelId="{AC885512-DF7D-4C48-AF74-9F1EC3830EA3}" type="pres">
      <dgm:prSet presAssocID="{2E43FFBB-BF0C-48FA-BBA1-B89028F23407}" presName="ThreeNodes_1_text" presStyleLbl="node1" presStyleIdx="2" presStyleCnt="3">
        <dgm:presLayoutVars>
          <dgm:bulletEnabled val="1"/>
        </dgm:presLayoutVars>
      </dgm:prSet>
      <dgm:spPr/>
    </dgm:pt>
    <dgm:pt modelId="{44CF4885-6EAF-4530-AD19-60534917F736}" type="pres">
      <dgm:prSet presAssocID="{2E43FFBB-BF0C-48FA-BBA1-B89028F23407}" presName="ThreeNodes_2_text" presStyleLbl="node1" presStyleIdx="2" presStyleCnt="3">
        <dgm:presLayoutVars>
          <dgm:bulletEnabled val="1"/>
        </dgm:presLayoutVars>
      </dgm:prSet>
      <dgm:spPr/>
    </dgm:pt>
    <dgm:pt modelId="{6B5B6B8E-6911-4103-A611-87E78F16D9E3}" type="pres">
      <dgm:prSet presAssocID="{2E43FFBB-BF0C-48FA-BBA1-B89028F23407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0174151A-CED6-4443-B5FD-D6E890AF1532}" type="presOf" srcId="{00EA408A-D503-4C1E-A5D0-CF84FE204992}" destId="{D4F3796B-E7B2-48E0-AF20-EA1BD4C38943}" srcOrd="0" destOrd="0" presId="urn:microsoft.com/office/officeart/2005/8/layout/vProcess5"/>
    <dgm:cxn modelId="{79D6721D-BEA5-480F-89AA-EF74DA312FAE}" type="presOf" srcId="{00EA408A-D503-4C1E-A5D0-CF84FE204992}" destId="{6B5B6B8E-6911-4103-A611-87E78F16D9E3}" srcOrd="1" destOrd="0" presId="urn:microsoft.com/office/officeart/2005/8/layout/vProcess5"/>
    <dgm:cxn modelId="{C4A8B91E-B0D4-4E79-83BC-257659B94DF4}" type="presOf" srcId="{2E43FFBB-BF0C-48FA-BBA1-B89028F23407}" destId="{F8CF255D-40A5-459C-8404-3A42EAF9176C}" srcOrd="0" destOrd="0" presId="urn:microsoft.com/office/officeart/2005/8/layout/vProcess5"/>
    <dgm:cxn modelId="{E8272E47-37DD-4F49-84BC-6A6BF1ACCFEF}" type="presOf" srcId="{1F766FFA-9989-446D-A199-DB7EA217800F}" destId="{44CF4885-6EAF-4530-AD19-60534917F736}" srcOrd="1" destOrd="0" presId="urn:microsoft.com/office/officeart/2005/8/layout/vProcess5"/>
    <dgm:cxn modelId="{FAEBE15A-7B21-48F5-B2AF-84B2E1424265}" srcId="{2E43FFBB-BF0C-48FA-BBA1-B89028F23407}" destId="{83D406D6-1346-47AF-992C-27CD90A96316}" srcOrd="0" destOrd="0" parTransId="{9250E625-83FB-41C9-A4DF-E54385A9C2B4}" sibTransId="{FBCD0C8B-09AB-45A7-9260-7A41098ED008}"/>
    <dgm:cxn modelId="{42D2F288-A4ED-419D-AB1E-A6668FE94FEF}" type="presOf" srcId="{83D406D6-1346-47AF-992C-27CD90A96316}" destId="{7C268597-A444-4B7D-8945-E48CEA59CA4F}" srcOrd="0" destOrd="0" presId="urn:microsoft.com/office/officeart/2005/8/layout/vProcess5"/>
    <dgm:cxn modelId="{BB2C659D-034F-4873-9AC2-EFC87A5389AC}" type="presOf" srcId="{FBCD0C8B-09AB-45A7-9260-7A41098ED008}" destId="{1F4D708F-92A0-4873-83F5-1107976FF54E}" srcOrd="0" destOrd="0" presId="urn:microsoft.com/office/officeart/2005/8/layout/vProcess5"/>
    <dgm:cxn modelId="{7D4BFA9F-73F2-4CC1-AA31-4B7C9E9F2200}" type="presOf" srcId="{890664A5-630D-42EB-A552-5A146E8C8348}" destId="{A8C8A1C2-993B-4F0B-86BE-202F803DB4CC}" srcOrd="0" destOrd="0" presId="urn:microsoft.com/office/officeart/2005/8/layout/vProcess5"/>
    <dgm:cxn modelId="{5B2417CD-3155-45B5-A942-4CA0C4913262}" type="presOf" srcId="{1F766FFA-9989-446D-A199-DB7EA217800F}" destId="{B6C5DE74-5EDF-457D-9989-3BD72B45D2FB}" srcOrd="0" destOrd="0" presId="urn:microsoft.com/office/officeart/2005/8/layout/vProcess5"/>
    <dgm:cxn modelId="{5BF4BBCE-B113-4EF9-B4F6-12C7CD11C90D}" srcId="{2E43FFBB-BF0C-48FA-BBA1-B89028F23407}" destId="{1F766FFA-9989-446D-A199-DB7EA217800F}" srcOrd="1" destOrd="0" parTransId="{9B578D2D-9E4A-4A63-831A-48C9B6F91E1F}" sibTransId="{890664A5-630D-42EB-A552-5A146E8C8348}"/>
    <dgm:cxn modelId="{FA459CF3-76B6-4974-A27D-00F5FF3134FD}" type="presOf" srcId="{83D406D6-1346-47AF-992C-27CD90A96316}" destId="{AC885512-DF7D-4C48-AF74-9F1EC3830EA3}" srcOrd="1" destOrd="0" presId="urn:microsoft.com/office/officeart/2005/8/layout/vProcess5"/>
    <dgm:cxn modelId="{E2B0DDF4-9336-46F7-8F00-D8CB61B5C204}" srcId="{2E43FFBB-BF0C-48FA-BBA1-B89028F23407}" destId="{00EA408A-D503-4C1E-A5D0-CF84FE204992}" srcOrd="2" destOrd="0" parTransId="{3147C48A-2E07-48A2-BEBD-4C04073AB662}" sibTransId="{A6F99B29-554A-4E13-8F0C-8F67E103FC8C}"/>
    <dgm:cxn modelId="{96C7020B-8443-479A-AB1F-EAFA4A62BC6B}" type="presParOf" srcId="{F8CF255D-40A5-459C-8404-3A42EAF9176C}" destId="{D05367CD-7851-4860-B605-D929C9369EC5}" srcOrd="0" destOrd="0" presId="urn:microsoft.com/office/officeart/2005/8/layout/vProcess5"/>
    <dgm:cxn modelId="{C2B1792C-DA01-4C4E-A78B-E4343CE1D500}" type="presParOf" srcId="{F8CF255D-40A5-459C-8404-3A42EAF9176C}" destId="{7C268597-A444-4B7D-8945-E48CEA59CA4F}" srcOrd="1" destOrd="0" presId="urn:microsoft.com/office/officeart/2005/8/layout/vProcess5"/>
    <dgm:cxn modelId="{921EEE03-B668-4355-9B69-A71CF65FDBA8}" type="presParOf" srcId="{F8CF255D-40A5-459C-8404-3A42EAF9176C}" destId="{B6C5DE74-5EDF-457D-9989-3BD72B45D2FB}" srcOrd="2" destOrd="0" presId="urn:microsoft.com/office/officeart/2005/8/layout/vProcess5"/>
    <dgm:cxn modelId="{30303C98-90C3-492E-8803-DF107B531999}" type="presParOf" srcId="{F8CF255D-40A5-459C-8404-3A42EAF9176C}" destId="{D4F3796B-E7B2-48E0-AF20-EA1BD4C38943}" srcOrd="3" destOrd="0" presId="urn:microsoft.com/office/officeart/2005/8/layout/vProcess5"/>
    <dgm:cxn modelId="{55A443DA-F81C-40FD-982A-67C97846E0E0}" type="presParOf" srcId="{F8CF255D-40A5-459C-8404-3A42EAF9176C}" destId="{1F4D708F-92A0-4873-83F5-1107976FF54E}" srcOrd="4" destOrd="0" presId="urn:microsoft.com/office/officeart/2005/8/layout/vProcess5"/>
    <dgm:cxn modelId="{0727F194-F588-4BE3-B239-D6F0AEDBB2F1}" type="presParOf" srcId="{F8CF255D-40A5-459C-8404-3A42EAF9176C}" destId="{A8C8A1C2-993B-4F0B-86BE-202F803DB4CC}" srcOrd="5" destOrd="0" presId="urn:microsoft.com/office/officeart/2005/8/layout/vProcess5"/>
    <dgm:cxn modelId="{155AA8BA-9554-4D89-A562-416E46FB4E45}" type="presParOf" srcId="{F8CF255D-40A5-459C-8404-3A42EAF9176C}" destId="{AC885512-DF7D-4C48-AF74-9F1EC3830EA3}" srcOrd="6" destOrd="0" presId="urn:microsoft.com/office/officeart/2005/8/layout/vProcess5"/>
    <dgm:cxn modelId="{D7710C4B-7285-463A-B0F9-5D6F1E13D4DA}" type="presParOf" srcId="{F8CF255D-40A5-459C-8404-3A42EAF9176C}" destId="{44CF4885-6EAF-4530-AD19-60534917F736}" srcOrd="7" destOrd="0" presId="urn:microsoft.com/office/officeart/2005/8/layout/vProcess5"/>
    <dgm:cxn modelId="{7874836A-0079-430B-83BA-FEC49E42B831}" type="presParOf" srcId="{F8CF255D-40A5-459C-8404-3A42EAF9176C}" destId="{6B5B6B8E-6911-4103-A611-87E78F16D9E3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4C5CBF1-8A52-4DB7-B334-0DD8D759C4D8}" type="doc">
      <dgm:prSet loTypeId="urn:microsoft.com/office/officeart/2016/7/layout/HorizontalActionList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CE4A710E-83E9-4A79-ABD8-546BD48DEF8F}">
      <dgm:prSet/>
      <dgm:spPr/>
      <dgm:t>
        <a:bodyPr/>
        <a:lstStyle/>
        <a:p>
          <a:r>
            <a:rPr lang="en-US"/>
            <a:t>Focus</a:t>
          </a:r>
        </a:p>
      </dgm:t>
    </dgm:pt>
    <dgm:pt modelId="{CBC60227-ED3C-4135-8BAC-984DC8A6AEDD}" type="parTrans" cxnId="{AAB1C00B-5645-4D18-98FE-75BC7FC9E185}">
      <dgm:prSet/>
      <dgm:spPr/>
      <dgm:t>
        <a:bodyPr/>
        <a:lstStyle/>
        <a:p>
          <a:endParaRPr lang="en-US"/>
        </a:p>
      </dgm:t>
    </dgm:pt>
    <dgm:pt modelId="{6AE8B49D-6118-4F11-BB4E-07042F8968A5}" type="sibTrans" cxnId="{AAB1C00B-5645-4D18-98FE-75BC7FC9E185}">
      <dgm:prSet/>
      <dgm:spPr/>
      <dgm:t>
        <a:bodyPr/>
        <a:lstStyle/>
        <a:p>
          <a:endParaRPr lang="en-US"/>
        </a:p>
      </dgm:t>
    </dgm:pt>
    <dgm:pt modelId="{05BD879C-100A-4AAB-B624-6C1010D4517F}">
      <dgm:prSet/>
      <dgm:spPr/>
      <dgm:t>
        <a:bodyPr/>
        <a:lstStyle/>
        <a:p>
          <a:r>
            <a:rPr lang="en-US"/>
            <a:t>Focus marketing on top‑selling dog breeds.</a:t>
          </a:r>
        </a:p>
      </dgm:t>
    </dgm:pt>
    <dgm:pt modelId="{FE382CF5-9782-435B-93B8-B38C353CA73D}" type="parTrans" cxnId="{F4B78CDD-BD0E-40D0-8C3E-70263D7F8F45}">
      <dgm:prSet/>
      <dgm:spPr/>
      <dgm:t>
        <a:bodyPr/>
        <a:lstStyle/>
        <a:p>
          <a:endParaRPr lang="en-US"/>
        </a:p>
      </dgm:t>
    </dgm:pt>
    <dgm:pt modelId="{01EB151E-3D7D-453F-A9EA-93A6F2703BA9}" type="sibTrans" cxnId="{F4B78CDD-BD0E-40D0-8C3E-70263D7F8F45}">
      <dgm:prSet/>
      <dgm:spPr/>
      <dgm:t>
        <a:bodyPr/>
        <a:lstStyle/>
        <a:p>
          <a:endParaRPr lang="en-US"/>
        </a:p>
      </dgm:t>
    </dgm:pt>
    <dgm:pt modelId="{9D902CDF-6AC7-460E-9610-73AFA6CAB848}">
      <dgm:prSet/>
      <dgm:spPr/>
      <dgm:t>
        <a:bodyPr/>
        <a:lstStyle/>
        <a:p>
          <a:r>
            <a:rPr lang="en-US"/>
            <a:t>Adjust</a:t>
          </a:r>
        </a:p>
      </dgm:t>
    </dgm:pt>
    <dgm:pt modelId="{127258C9-263C-4E0F-9B8E-205887D78D24}" type="parTrans" cxnId="{FD6721A5-E5CB-49BA-8E6C-9B56ED0D045E}">
      <dgm:prSet/>
      <dgm:spPr/>
      <dgm:t>
        <a:bodyPr/>
        <a:lstStyle/>
        <a:p>
          <a:endParaRPr lang="en-US"/>
        </a:p>
      </dgm:t>
    </dgm:pt>
    <dgm:pt modelId="{00C2B303-F29D-48F2-88D7-EBD010198716}" type="sibTrans" cxnId="{FD6721A5-E5CB-49BA-8E6C-9B56ED0D045E}">
      <dgm:prSet/>
      <dgm:spPr/>
      <dgm:t>
        <a:bodyPr/>
        <a:lstStyle/>
        <a:p>
          <a:endParaRPr lang="en-US"/>
        </a:p>
      </dgm:t>
    </dgm:pt>
    <dgm:pt modelId="{DFD0413B-C0C2-498B-8E54-77C7014C5232}">
      <dgm:prSet/>
      <dgm:spPr/>
      <dgm:t>
        <a:bodyPr/>
        <a:lstStyle/>
        <a:p>
          <a:r>
            <a:rPr lang="en-US"/>
            <a:t>Adjust pricing for low‑selling breeds.</a:t>
          </a:r>
        </a:p>
      </dgm:t>
    </dgm:pt>
    <dgm:pt modelId="{CFDC00D0-C6D0-4501-8408-09942D49405C}" type="parTrans" cxnId="{040EB816-1E92-472C-8B73-A4EE622AE8D0}">
      <dgm:prSet/>
      <dgm:spPr/>
      <dgm:t>
        <a:bodyPr/>
        <a:lstStyle/>
        <a:p>
          <a:endParaRPr lang="en-US"/>
        </a:p>
      </dgm:t>
    </dgm:pt>
    <dgm:pt modelId="{D4C45E04-1F4E-4AD4-AF6B-5B8BABDA2C25}" type="sibTrans" cxnId="{040EB816-1E92-472C-8B73-A4EE622AE8D0}">
      <dgm:prSet/>
      <dgm:spPr/>
      <dgm:t>
        <a:bodyPr/>
        <a:lstStyle/>
        <a:p>
          <a:endParaRPr lang="en-US"/>
        </a:p>
      </dgm:t>
    </dgm:pt>
    <dgm:pt modelId="{D7BEFEAA-ADB4-412B-A61A-B0169AC0F6D6}">
      <dgm:prSet/>
      <dgm:spPr/>
      <dgm:t>
        <a:bodyPr/>
        <a:lstStyle/>
        <a:p>
          <a:r>
            <a:rPr lang="en-US"/>
            <a:t>Promote</a:t>
          </a:r>
        </a:p>
      </dgm:t>
    </dgm:pt>
    <dgm:pt modelId="{554E04F1-3BEA-4A08-8E59-6ECDA7DEF60F}" type="parTrans" cxnId="{0FB50BE2-A8AB-4630-A34B-AC246694D013}">
      <dgm:prSet/>
      <dgm:spPr/>
      <dgm:t>
        <a:bodyPr/>
        <a:lstStyle/>
        <a:p>
          <a:endParaRPr lang="en-US"/>
        </a:p>
      </dgm:t>
    </dgm:pt>
    <dgm:pt modelId="{32E8E4AD-68CD-4EC9-BDEF-FD547C56D8D1}" type="sibTrans" cxnId="{0FB50BE2-A8AB-4630-A34B-AC246694D013}">
      <dgm:prSet/>
      <dgm:spPr/>
      <dgm:t>
        <a:bodyPr/>
        <a:lstStyle/>
        <a:p>
          <a:endParaRPr lang="en-US"/>
        </a:p>
      </dgm:t>
    </dgm:pt>
    <dgm:pt modelId="{0C525616-978F-4A72-906E-7F1D329B7566}">
      <dgm:prSet/>
      <dgm:spPr/>
      <dgm:t>
        <a:bodyPr/>
        <a:lstStyle/>
        <a:p>
          <a:r>
            <a:rPr lang="en-US"/>
            <a:t>Promote premium cat breeds with strong demand.</a:t>
          </a:r>
        </a:p>
      </dgm:t>
    </dgm:pt>
    <dgm:pt modelId="{FB57EA7A-FF77-4C7C-BBE8-D53F1A522123}" type="parTrans" cxnId="{F8E4BEC7-CE8C-4E74-BC87-7A8E901E7C4D}">
      <dgm:prSet/>
      <dgm:spPr/>
      <dgm:t>
        <a:bodyPr/>
        <a:lstStyle/>
        <a:p>
          <a:endParaRPr lang="en-US"/>
        </a:p>
      </dgm:t>
    </dgm:pt>
    <dgm:pt modelId="{39A0D212-128C-4C90-B216-755267199616}" type="sibTrans" cxnId="{F8E4BEC7-CE8C-4E74-BC87-7A8E901E7C4D}">
      <dgm:prSet/>
      <dgm:spPr/>
      <dgm:t>
        <a:bodyPr/>
        <a:lstStyle/>
        <a:p>
          <a:endParaRPr lang="en-US"/>
        </a:p>
      </dgm:t>
    </dgm:pt>
    <dgm:pt modelId="{82BD1B66-E533-4E4C-9950-11F0CB3F1659}">
      <dgm:prSet/>
      <dgm:spPr/>
      <dgm:t>
        <a:bodyPr/>
        <a:lstStyle/>
        <a:p>
          <a:r>
            <a:rPr lang="en-US"/>
            <a:t>Use</a:t>
          </a:r>
        </a:p>
      </dgm:t>
    </dgm:pt>
    <dgm:pt modelId="{5DC91B93-76EF-4A6B-A270-6D99B4FE5DED}" type="parTrans" cxnId="{B87498B2-A2E5-4540-A40C-1FA2DED8E7C2}">
      <dgm:prSet/>
      <dgm:spPr/>
      <dgm:t>
        <a:bodyPr/>
        <a:lstStyle/>
        <a:p>
          <a:endParaRPr lang="en-US"/>
        </a:p>
      </dgm:t>
    </dgm:pt>
    <dgm:pt modelId="{F7DB8C2D-3FEC-4DB7-842B-3D5F51C1DB9F}" type="sibTrans" cxnId="{B87498B2-A2E5-4540-A40C-1FA2DED8E7C2}">
      <dgm:prSet/>
      <dgm:spPr/>
      <dgm:t>
        <a:bodyPr/>
        <a:lstStyle/>
        <a:p>
          <a:endParaRPr lang="en-US"/>
        </a:p>
      </dgm:t>
    </dgm:pt>
    <dgm:pt modelId="{90AEE36B-C738-4A44-849C-0C4C0642C06E}">
      <dgm:prSet/>
      <dgm:spPr/>
      <dgm:t>
        <a:bodyPr/>
        <a:lstStyle/>
        <a:p>
          <a:r>
            <a:rPr lang="en-US"/>
            <a:t>Use temperament and popularity data for targeted marketing.</a:t>
          </a:r>
        </a:p>
      </dgm:t>
    </dgm:pt>
    <dgm:pt modelId="{9C52C48E-D803-4069-8912-4315F1900EE1}" type="parTrans" cxnId="{B2CC018C-0F3E-4BC9-AC89-4D91C3B6BF36}">
      <dgm:prSet/>
      <dgm:spPr/>
      <dgm:t>
        <a:bodyPr/>
        <a:lstStyle/>
        <a:p>
          <a:endParaRPr lang="en-US"/>
        </a:p>
      </dgm:t>
    </dgm:pt>
    <dgm:pt modelId="{BA6DE941-D080-4347-8F99-BEA540F5A8E9}" type="sibTrans" cxnId="{B2CC018C-0F3E-4BC9-AC89-4D91C3B6BF36}">
      <dgm:prSet/>
      <dgm:spPr/>
      <dgm:t>
        <a:bodyPr/>
        <a:lstStyle/>
        <a:p>
          <a:endParaRPr lang="en-US"/>
        </a:p>
      </dgm:t>
    </dgm:pt>
    <dgm:pt modelId="{119055EC-348B-4404-8AE9-1CFE457A1AC7}" type="pres">
      <dgm:prSet presAssocID="{14C5CBF1-8A52-4DB7-B334-0DD8D759C4D8}" presName="Name0" presStyleCnt="0">
        <dgm:presLayoutVars>
          <dgm:dir/>
          <dgm:animLvl val="lvl"/>
          <dgm:resizeHandles val="exact"/>
        </dgm:presLayoutVars>
      </dgm:prSet>
      <dgm:spPr/>
    </dgm:pt>
    <dgm:pt modelId="{9FE1EF70-C865-4584-9244-A42902CC217A}" type="pres">
      <dgm:prSet presAssocID="{CE4A710E-83E9-4A79-ABD8-546BD48DEF8F}" presName="composite" presStyleCnt="0"/>
      <dgm:spPr/>
    </dgm:pt>
    <dgm:pt modelId="{32D9A281-AFDC-44D0-969B-FB2291D06C31}" type="pres">
      <dgm:prSet presAssocID="{CE4A710E-83E9-4A79-ABD8-546BD48DEF8F}" presName="parTx" presStyleLbl="alignNode1" presStyleIdx="0" presStyleCnt="4">
        <dgm:presLayoutVars>
          <dgm:chMax val="0"/>
          <dgm:chPref val="0"/>
        </dgm:presLayoutVars>
      </dgm:prSet>
      <dgm:spPr/>
    </dgm:pt>
    <dgm:pt modelId="{932F0059-937A-413F-8881-7DDF5E906E26}" type="pres">
      <dgm:prSet presAssocID="{CE4A710E-83E9-4A79-ABD8-546BD48DEF8F}" presName="desTx" presStyleLbl="alignAccFollowNode1" presStyleIdx="0" presStyleCnt="4">
        <dgm:presLayoutVars/>
      </dgm:prSet>
      <dgm:spPr/>
    </dgm:pt>
    <dgm:pt modelId="{6C4EF704-44D8-4CDB-B14D-EAB35E5D5744}" type="pres">
      <dgm:prSet presAssocID="{6AE8B49D-6118-4F11-BB4E-07042F8968A5}" presName="space" presStyleCnt="0"/>
      <dgm:spPr/>
    </dgm:pt>
    <dgm:pt modelId="{A0257B1B-C471-47C3-B60E-4F15AC347C9B}" type="pres">
      <dgm:prSet presAssocID="{9D902CDF-6AC7-460E-9610-73AFA6CAB848}" presName="composite" presStyleCnt="0"/>
      <dgm:spPr/>
    </dgm:pt>
    <dgm:pt modelId="{98051731-5C31-4820-8FDC-89B2D986280E}" type="pres">
      <dgm:prSet presAssocID="{9D902CDF-6AC7-460E-9610-73AFA6CAB848}" presName="parTx" presStyleLbl="alignNode1" presStyleIdx="1" presStyleCnt="4">
        <dgm:presLayoutVars>
          <dgm:chMax val="0"/>
          <dgm:chPref val="0"/>
        </dgm:presLayoutVars>
      </dgm:prSet>
      <dgm:spPr/>
    </dgm:pt>
    <dgm:pt modelId="{A3E480B6-BDDB-445B-B847-016111DB1243}" type="pres">
      <dgm:prSet presAssocID="{9D902CDF-6AC7-460E-9610-73AFA6CAB848}" presName="desTx" presStyleLbl="alignAccFollowNode1" presStyleIdx="1" presStyleCnt="4">
        <dgm:presLayoutVars/>
      </dgm:prSet>
      <dgm:spPr/>
    </dgm:pt>
    <dgm:pt modelId="{4D5E0C64-3D94-4ECE-A3A5-0CBE93DE7BDE}" type="pres">
      <dgm:prSet presAssocID="{00C2B303-F29D-48F2-88D7-EBD010198716}" presName="space" presStyleCnt="0"/>
      <dgm:spPr/>
    </dgm:pt>
    <dgm:pt modelId="{A298DA3E-9220-4D1E-84C3-A41CBC6B5DB4}" type="pres">
      <dgm:prSet presAssocID="{D7BEFEAA-ADB4-412B-A61A-B0169AC0F6D6}" presName="composite" presStyleCnt="0"/>
      <dgm:spPr/>
    </dgm:pt>
    <dgm:pt modelId="{0458A8F7-1E3D-4FB6-9057-CA1CF4D07E2E}" type="pres">
      <dgm:prSet presAssocID="{D7BEFEAA-ADB4-412B-A61A-B0169AC0F6D6}" presName="parTx" presStyleLbl="alignNode1" presStyleIdx="2" presStyleCnt="4">
        <dgm:presLayoutVars>
          <dgm:chMax val="0"/>
          <dgm:chPref val="0"/>
        </dgm:presLayoutVars>
      </dgm:prSet>
      <dgm:spPr/>
    </dgm:pt>
    <dgm:pt modelId="{78826137-31C5-458B-B837-EE19A5924B7B}" type="pres">
      <dgm:prSet presAssocID="{D7BEFEAA-ADB4-412B-A61A-B0169AC0F6D6}" presName="desTx" presStyleLbl="alignAccFollowNode1" presStyleIdx="2" presStyleCnt="4">
        <dgm:presLayoutVars/>
      </dgm:prSet>
      <dgm:spPr/>
    </dgm:pt>
    <dgm:pt modelId="{736B6345-F1AE-4044-BCB2-518D0CFA4258}" type="pres">
      <dgm:prSet presAssocID="{32E8E4AD-68CD-4EC9-BDEF-FD547C56D8D1}" presName="space" presStyleCnt="0"/>
      <dgm:spPr/>
    </dgm:pt>
    <dgm:pt modelId="{F99CEC8D-574B-491D-9519-66E9C35716D7}" type="pres">
      <dgm:prSet presAssocID="{82BD1B66-E533-4E4C-9950-11F0CB3F1659}" presName="composite" presStyleCnt="0"/>
      <dgm:spPr/>
    </dgm:pt>
    <dgm:pt modelId="{7B4D8E39-43BA-4465-B179-C718B25988C9}" type="pres">
      <dgm:prSet presAssocID="{82BD1B66-E533-4E4C-9950-11F0CB3F1659}" presName="parTx" presStyleLbl="alignNode1" presStyleIdx="3" presStyleCnt="4">
        <dgm:presLayoutVars>
          <dgm:chMax val="0"/>
          <dgm:chPref val="0"/>
        </dgm:presLayoutVars>
      </dgm:prSet>
      <dgm:spPr/>
    </dgm:pt>
    <dgm:pt modelId="{E350ECDD-3A14-4F45-92B7-2D8100215862}" type="pres">
      <dgm:prSet presAssocID="{82BD1B66-E533-4E4C-9950-11F0CB3F1659}" presName="desTx" presStyleLbl="alignAccFollowNode1" presStyleIdx="3" presStyleCnt="4">
        <dgm:presLayoutVars/>
      </dgm:prSet>
      <dgm:spPr/>
    </dgm:pt>
  </dgm:ptLst>
  <dgm:cxnLst>
    <dgm:cxn modelId="{AAB1C00B-5645-4D18-98FE-75BC7FC9E185}" srcId="{14C5CBF1-8A52-4DB7-B334-0DD8D759C4D8}" destId="{CE4A710E-83E9-4A79-ABD8-546BD48DEF8F}" srcOrd="0" destOrd="0" parTransId="{CBC60227-ED3C-4135-8BAC-984DC8A6AEDD}" sibTransId="{6AE8B49D-6118-4F11-BB4E-07042F8968A5}"/>
    <dgm:cxn modelId="{040EB816-1E92-472C-8B73-A4EE622AE8D0}" srcId="{9D902CDF-6AC7-460E-9610-73AFA6CAB848}" destId="{DFD0413B-C0C2-498B-8E54-77C7014C5232}" srcOrd="0" destOrd="0" parTransId="{CFDC00D0-C6D0-4501-8408-09942D49405C}" sibTransId="{D4C45E04-1F4E-4AD4-AF6B-5B8BABDA2C25}"/>
    <dgm:cxn modelId="{5A3C201E-BA09-4196-A6B7-5035F306BBA0}" type="presOf" srcId="{9D902CDF-6AC7-460E-9610-73AFA6CAB848}" destId="{98051731-5C31-4820-8FDC-89B2D986280E}" srcOrd="0" destOrd="0" presId="urn:microsoft.com/office/officeart/2016/7/layout/HorizontalActionList"/>
    <dgm:cxn modelId="{A0E90029-F555-41C3-A794-A45E5B1C9A8A}" type="presOf" srcId="{14C5CBF1-8A52-4DB7-B334-0DD8D759C4D8}" destId="{119055EC-348B-4404-8AE9-1CFE457A1AC7}" srcOrd="0" destOrd="0" presId="urn:microsoft.com/office/officeart/2016/7/layout/HorizontalActionList"/>
    <dgm:cxn modelId="{BD757B30-D02F-4A46-9D9A-153B432EED97}" type="presOf" srcId="{CE4A710E-83E9-4A79-ABD8-546BD48DEF8F}" destId="{32D9A281-AFDC-44D0-969B-FB2291D06C31}" srcOrd="0" destOrd="0" presId="urn:microsoft.com/office/officeart/2016/7/layout/HorizontalActionList"/>
    <dgm:cxn modelId="{4FBB8731-F7AB-4DD7-BB4F-DDA2C6AEBDE5}" type="presOf" srcId="{82BD1B66-E533-4E4C-9950-11F0CB3F1659}" destId="{7B4D8E39-43BA-4465-B179-C718B25988C9}" srcOrd="0" destOrd="0" presId="urn:microsoft.com/office/officeart/2016/7/layout/HorizontalActionList"/>
    <dgm:cxn modelId="{B2CC018C-0F3E-4BC9-AC89-4D91C3B6BF36}" srcId="{82BD1B66-E533-4E4C-9950-11F0CB3F1659}" destId="{90AEE36B-C738-4A44-849C-0C4C0642C06E}" srcOrd="0" destOrd="0" parTransId="{9C52C48E-D803-4069-8912-4315F1900EE1}" sibTransId="{BA6DE941-D080-4347-8F99-BEA540F5A8E9}"/>
    <dgm:cxn modelId="{F2FCA98C-9863-41FD-B576-979EF3FC3B7C}" type="presOf" srcId="{0C525616-978F-4A72-906E-7F1D329B7566}" destId="{78826137-31C5-458B-B837-EE19A5924B7B}" srcOrd="0" destOrd="0" presId="urn:microsoft.com/office/officeart/2016/7/layout/HorizontalActionList"/>
    <dgm:cxn modelId="{F9CDAA9F-DC4F-46CC-BD84-0CAF5F286956}" type="presOf" srcId="{D7BEFEAA-ADB4-412B-A61A-B0169AC0F6D6}" destId="{0458A8F7-1E3D-4FB6-9057-CA1CF4D07E2E}" srcOrd="0" destOrd="0" presId="urn:microsoft.com/office/officeart/2016/7/layout/HorizontalActionList"/>
    <dgm:cxn modelId="{FD6721A5-E5CB-49BA-8E6C-9B56ED0D045E}" srcId="{14C5CBF1-8A52-4DB7-B334-0DD8D759C4D8}" destId="{9D902CDF-6AC7-460E-9610-73AFA6CAB848}" srcOrd="1" destOrd="0" parTransId="{127258C9-263C-4E0F-9B8E-205887D78D24}" sibTransId="{00C2B303-F29D-48F2-88D7-EBD010198716}"/>
    <dgm:cxn modelId="{B87498B2-A2E5-4540-A40C-1FA2DED8E7C2}" srcId="{14C5CBF1-8A52-4DB7-B334-0DD8D759C4D8}" destId="{82BD1B66-E533-4E4C-9950-11F0CB3F1659}" srcOrd="3" destOrd="0" parTransId="{5DC91B93-76EF-4A6B-A270-6D99B4FE5DED}" sibTransId="{F7DB8C2D-3FEC-4DB7-842B-3D5F51C1DB9F}"/>
    <dgm:cxn modelId="{39C931C5-E582-452D-BE4C-09B8E388792E}" type="presOf" srcId="{90AEE36B-C738-4A44-849C-0C4C0642C06E}" destId="{E350ECDD-3A14-4F45-92B7-2D8100215862}" srcOrd="0" destOrd="0" presId="urn:microsoft.com/office/officeart/2016/7/layout/HorizontalActionList"/>
    <dgm:cxn modelId="{F8E4BEC7-CE8C-4E74-BC87-7A8E901E7C4D}" srcId="{D7BEFEAA-ADB4-412B-A61A-B0169AC0F6D6}" destId="{0C525616-978F-4A72-906E-7F1D329B7566}" srcOrd="0" destOrd="0" parTransId="{FB57EA7A-FF77-4C7C-BBE8-D53F1A522123}" sibTransId="{39A0D212-128C-4C90-B216-755267199616}"/>
    <dgm:cxn modelId="{D0ADD3D6-7618-4062-8AE9-B6E15DBDB030}" type="presOf" srcId="{05BD879C-100A-4AAB-B624-6C1010D4517F}" destId="{932F0059-937A-413F-8881-7DDF5E906E26}" srcOrd="0" destOrd="0" presId="urn:microsoft.com/office/officeart/2016/7/layout/HorizontalActionList"/>
    <dgm:cxn modelId="{B698F4D6-778B-47C2-BEA4-D82876403736}" type="presOf" srcId="{DFD0413B-C0C2-498B-8E54-77C7014C5232}" destId="{A3E480B6-BDDB-445B-B847-016111DB1243}" srcOrd="0" destOrd="0" presId="urn:microsoft.com/office/officeart/2016/7/layout/HorizontalActionList"/>
    <dgm:cxn modelId="{F4B78CDD-BD0E-40D0-8C3E-70263D7F8F45}" srcId="{CE4A710E-83E9-4A79-ABD8-546BD48DEF8F}" destId="{05BD879C-100A-4AAB-B624-6C1010D4517F}" srcOrd="0" destOrd="0" parTransId="{FE382CF5-9782-435B-93B8-B38C353CA73D}" sibTransId="{01EB151E-3D7D-453F-A9EA-93A6F2703BA9}"/>
    <dgm:cxn modelId="{0FB50BE2-A8AB-4630-A34B-AC246694D013}" srcId="{14C5CBF1-8A52-4DB7-B334-0DD8D759C4D8}" destId="{D7BEFEAA-ADB4-412B-A61A-B0169AC0F6D6}" srcOrd="2" destOrd="0" parTransId="{554E04F1-3BEA-4A08-8E59-6ECDA7DEF60F}" sibTransId="{32E8E4AD-68CD-4EC9-BDEF-FD547C56D8D1}"/>
    <dgm:cxn modelId="{DE7823A5-825E-4B4A-8A3D-104472AC908B}" type="presParOf" srcId="{119055EC-348B-4404-8AE9-1CFE457A1AC7}" destId="{9FE1EF70-C865-4584-9244-A42902CC217A}" srcOrd="0" destOrd="0" presId="urn:microsoft.com/office/officeart/2016/7/layout/HorizontalActionList"/>
    <dgm:cxn modelId="{67DBF533-A0FF-47CB-9622-123A8F7F1227}" type="presParOf" srcId="{9FE1EF70-C865-4584-9244-A42902CC217A}" destId="{32D9A281-AFDC-44D0-969B-FB2291D06C31}" srcOrd="0" destOrd="0" presId="urn:microsoft.com/office/officeart/2016/7/layout/HorizontalActionList"/>
    <dgm:cxn modelId="{A7BE172B-25C3-4F7E-9F26-5768C9F2E1D9}" type="presParOf" srcId="{9FE1EF70-C865-4584-9244-A42902CC217A}" destId="{932F0059-937A-413F-8881-7DDF5E906E26}" srcOrd="1" destOrd="0" presId="urn:microsoft.com/office/officeart/2016/7/layout/HorizontalActionList"/>
    <dgm:cxn modelId="{6B209938-E54F-4472-854C-1513CFBBBFA9}" type="presParOf" srcId="{119055EC-348B-4404-8AE9-1CFE457A1AC7}" destId="{6C4EF704-44D8-4CDB-B14D-EAB35E5D5744}" srcOrd="1" destOrd="0" presId="urn:microsoft.com/office/officeart/2016/7/layout/HorizontalActionList"/>
    <dgm:cxn modelId="{3E64BC4A-B6EC-4F29-A85B-AE6D9BBB015C}" type="presParOf" srcId="{119055EC-348B-4404-8AE9-1CFE457A1AC7}" destId="{A0257B1B-C471-47C3-B60E-4F15AC347C9B}" srcOrd="2" destOrd="0" presId="urn:microsoft.com/office/officeart/2016/7/layout/HorizontalActionList"/>
    <dgm:cxn modelId="{5252BB6E-B8D4-4391-B0D9-60922C7B1CAF}" type="presParOf" srcId="{A0257B1B-C471-47C3-B60E-4F15AC347C9B}" destId="{98051731-5C31-4820-8FDC-89B2D986280E}" srcOrd="0" destOrd="0" presId="urn:microsoft.com/office/officeart/2016/7/layout/HorizontalActionList"/>
    <dgm:cxn modelId="{27DCD682-45D4-4C34-A2A4-1386872034F1}" type="presParOf" srcId="{A0257B1B-C471-47C3-B60E-4F15AC347C9B}" destId="{A3E480B6-BDDB-445B-B847-016111DB1243}" srcOrd="1" destOrd="0" presId="urn:microsoft.com/office/officeart/2016/7/layout/HorizontalActionList"/>
    <dgm:cxn modelId="{7BB9C41F-40E0-4CB1-9EE6-8DF151374717}" type="presParOf" srcId="{119055EC-348B-4404-8AE9-1CFE457A1AC7}" destId="{4D5E0C64-3D94-4ECE-A3A5-0CBE93DE7BDE}" srcOrd="3" destOrd="0" presId="urn:microsoft.com/office/officeart/2016/7/layout/HorizontalActionList"/>
    <dgm:cxn modelId="{205DE0DF-C552-4EC6-91A3-C5395352E762}" type="presParOf" srcId="{119055EC-348B-4404-8AE9-1CFE457A1AC7}" destId="{A298DA3E-9220-4D1E-84C3-A41CBC6B5DB4}" srcOrd="4" destOrd="0" presId="urn:microsoft.com/office/officeart/2016/7/layout/HorizontalActionList"/>
    <dgm:cxn modelId="{284FCA2C-A245-498F-86A3-B7F4C42BDA86}" type="presParOf" srcId="{A298DA3E-9220-4D1E-84C3-A41CBC6B5DB4}" destId="{0458A8F7-1E3D-4FB6-9057-CA1CF4D07E2E}" srcOrd="0" destOrd="0" presId="urn:microsoft.com/office/officeart/2016/7/layout/HorizontalActionList"/>
    <dgm:cxn modelId="{8C4DA44D-4CE2-467F-8BA9-CB724BC51005}" type="presParOf" srcId="{A298DA3E-9220-4D1E-84C3-A41CBC6B5DB4}" destId="{78826137-31C5-458B-B837-EE19A5924B7B}" srcOrd="1" destOrd="0" presId="urn:microsoft.com/office/officeart/2016/7/layout/HorizontalActionList"/>
    <dgm:cxn modelId="{ADB0A68E-3170-420E-A6BC-F892066411E0}" type="presParOf" srcId="{119055EC-348B-4404-8AE9-1CFE457A1AC7}" destId="{736B6345-F1AE-4044-BCB2-518D0CFA4258}" srcOrd="5" destOrd="0" presId="urn:microsoft.com/office/officeart/2016/7/layout/HorizontalActionList"/>
    <dgm:cxn modelId="{3DD5BC97-E09E-4704-B63F-0037E486EE16}" type="presParOf" srcId="{119055EC-348B-4404-8AE9-1CFE457A1AC7}" destId="{F99CEC8D-574B-491D-9519-66E9C35716D7}" srcOrd="6" destOrd="0" presId="urn:microsoft.com/office/officeart/2016/7/layout/HorizontalActionList"/>
    <dgm:cxn modelId="{13EBE277-26B4-4DAC-836E-4D2DD9EB1D3B}" type="presParOf" srcId="{F99CEC8D-574B-491D-9519-66E9C35716D7}" destId="{7B4D8E39-43BA-4465-B179-C718B25988C9}" srcOrd="0" destOrd="0" presId="urn:microsoft.com/office/officeart/2016/7/layout/HorizontalActionList"/>
    <dgm:cxn modelId="{EDDD1FF3-F79F-402F-BA74-579460237F85}" type="presParOf" srcId="{F99CEC8D-574B-491D-9519-66E9C35716D7}" destId="{E350ECDD-3A14-4F45-92B7-2D8100215862}" srcOrd="1" destOrd="0" presId="urn:microsoft.com/office/officeart/2016/7/layout/Horizontal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268597-A444-4B7D-8945-E48CEA59CA4F}">
      <dsp:nvSpPr>
        <dsp:cNvPr id="0" name=""/>
        <dsp:cNvSpPr/>
      </dsp:nvSpPr>
      <dsp:spPr>
        <a:xfrm>
          <a:off x="0" y="0"/>
          <a:ext cx="7383780" cy="113014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Excel data analyzed using total quantity sold per breed</a:t>
          </a:r>
        </a:p>
      </dsp:txBody>
      <dsp:txXfrm>
        <a:off x="33101" y="33101"/>
        <a:ext cx="6164268" cy="1063939"/>
      </dsp:txXfrm>
    </dsp:sp>
    <dsp:sp modelId="{B6C5DE74-5EDF-457D-9989-3BD72B45D2FB}">
      <dsp:nvSpPr>
        <dsp:cNvPr id="0" name=""/>
        <dsp:cNvSpPr/>
      </dsp:nvSpPr>
      <dsp:spPr>
        <a:xfrm>
          <a:off x="651509" y="1318498"/>
          <a:ext cx="7383780" cy="1130141"/>
        </a:xfrm>
        <a:prstGeom prst="roundRect">
          <a:avLst>
            <a:gd name="adj" fmla="val 10000"/>
          </a:avLst>
        </a:prstGeom>
        <a:solidFill>
          <a:schemeClr val="accent2">
            <a:hueOff val="-5184504"/>
            <a:satOff val="-10204"/>
            <a:lumOff val="637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Pivot-style grouping applied to summarize sales</a:t>
          </a:r>
        </a:p>
      </dsp:txBody>
      <dsp:txXfrm>
        <a:off x="684610" y="1351599"/>
        <a:ext cx="5931476" cy="1063939"/>
      </dsp:txXfrm>
    </dsp:sp>
    <dsp:sp modelId="{D4F3796B-E7B2-48E0-AF20-EA1BD4C38943}">
      <dsp:nvSpPr>
        <dsp:cNvPr id="0" name=""/>
        <dsp:cNvSpPr/>
      </dsp:nvSpPr>
      <dsp:spPr>
        <a:xfrm>
          <a:off x="1303019" y="2636996"/>
          <a:ext cx="7383780" cy="1130141"/>
        </a:xfrm>
        <a:prstGeom prst="roundRect">
          <a:avLst>
            <a:gd name="adj" fmla="val 10000"/>
          </a:avLst>
        </a:prstGeom>
        <a:solidFill>
          <a:schemeClr val="accent2">
            <a:hueOff val="-10369007"/>
            <a:satOff val="-20408"/>
            <a:lumOff val="1274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Data segmented into dog and cat breeds</a:t>
          </a:r>
        </a:p>
      </dsp:txBody>
      <dsp:txXfrm>
        <a:off x="1336120" y="2670097"/>
        <a:ext cx="5931476" cy="1063939"/>
      </dsp:txXfrm>
    </dsp:sp>
    <dsp:sp modelId="{1F4D708F-92A0-4873-83F5-1107976FF54E}">
      <dsp:nvSpPr>
        <dsp:cNvPr id="0" name=""/>
        <dsp:cNvSpPr/>
      </dsp:nvSpPr>
      <dsp:spPr>
        <a:xfrm>
          <a:off x="6649188" y="857023"/>
          <a:ext cx="734591" cy="73459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300" kern="1200"/>
        </a:p>
      </dsp:txBody>
      <dsp:txXfrm>
        <a:off x="6814471" y="857023"/>
        <a:ext cx="404025" cy="552780"/>
      </dsp:txXfrm>
    </dsp:sp>
    <dsp:sp modelId="{A8C8A1C2-993B-4F0B-86BE-202F803DB4CC}">
      <dsp:nvSpPr>
        <dsp:cNvPr id="0" name=""/>
        <dsp:cNvSpPr/>
      </dsp:nvSpPr>
      <dsp:spPr>
        <a:xfrm>
          <a:off x="7300698" y="2167987"/>
          <a:ext cx="734591" cy="73459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11047662"/>
            <a:satOff val="23918"/>
            <a:lumOff val="2232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-11047662"/>
              <a:satOff val="23918"/>
              <a:lumOff val="223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300" kern="1200"/>
        </a:p>
      </dsp:txBody>
      <dsp:txXfrm>
        <a:off x="7465981" y="2167987"/>
        <a:ext cx="404025" cy="55278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D9A281-AFDC-44D0-969B-FB2291D06C31}">
      <dsp:nvSpPr>
        <dsp:cNvPr id="0" name=""/>
        <dsp:cNvSpPr/>
      </dsp:nvSpPr>
      <dsp:spPr>
        <a:xfrm>
          <a:off x="2859" y="1075334"/>
          <a:ext cx="1572634" cy="47179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4273" tIns="124273" rIns="124273" bIns="124273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Focus</a:t>
          </a:r>
        </a:p>
      </dsp:txBody>
      <dsp:txXfrm>
        <a:off x="2859" y="1075334"/>
        <a:ext cx="1572634" cy="471790"/>
      </dsp:txXfrm>
    </dsp:sp>
    <dsp:sp modelId="{932F0059-937A-413F-8881-7DDF5E906E26}">
      <dsp:nvSpPr>
        <dsp:cNvPr id="0" name=""/>
        <dsp:cNvSpPr/>
      </dsp:nvSpPr>
      <dsp:spPr>
        <a:xfrm>
          <a:off x="2859" y="1547124"/>
          <a:ext cx="1572634" cy="2754212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5341" tIns="155341" rIns="155341" bIns="155341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Focus marketing on top‑selling dog breeds.</a:t>
          </a:r>
        </a:p>
      </dsp:txBody>
      <dsp:txXfrm>
        <a:off x="2859" y="1547124"/>
        <a:ext cx="1572634" cy="2754212"/>
      </dsp:txXfrm>
    </dsp:sp>
    <dsp:sp modelId="{98051731-5C31-4820-8FDC-89B2D986280E}">
      <dsp:nvSpPr>
        <dsp:cNvPr id="0" name=""/>
        <dsp:cNvSpPr/>
      </dsp:nvSpPr>
      <dsp:spPr>
        <a:xfrm>
          <a:off x="1683493" y="1075334"/>
          <a:ext cx="1572634" cy="471790"/>
        </a:xfrm>
        <a:prstGeom prst="rect">
          <a:avLst/>
        </a:prstGeom>
        <a:solidFill>
          <a:schemeClr val="accent5">
            <a:hueOff val="2791801"/>
            <a:satOff val="299"/>
            <a:lumOff val="-5752"/>
            <a:alphaOff val="0"/>
          </a:schemeClr>
        </a:solidFill>
        <a:ln w="19050" cap="flat" cmpd="sng" algn="ctr">
          <a:solidFill>
            <a:schemeClr val="accent5">
              <a:hueOff val="2791801"/>
              <a:satOff val="299"/>
              <a:lumOff val="-575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4273" tIns="124273" rIns="124273" bIns="124273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Adjust</a:t>
          </a:r>
        </a:p>
      </dsp:txBody>
      <dsp:txXfrm>
        <a:off x="1683493" y="1075334"/>
        <a:ext cx="1572634" cy="471790"/>
      </dsp:txXfrm>
    </dsp:sp>
    <dsp:sp modelId="{A3E480B6-BDDB-445B-B847-016111DB1243}">
      <dsp:nvSpPr>
        <dsp:cNvPr id="0" name=""/>
        <dsp:cNvSpPr/>
      </dsp:nvSpPr>
      <dsp:spPr>
        <a:xfrm>
          <a:off x="1683493" y="1547124"/>
          <a:ext cx="1572634" cy="2754212"/>
        </a:xfrm>
        <a:prstGeom prst="rect">
          <a:avLst/>
        </a:prstGeom>
        <a:solidFill>
          <a:schemeClr val="accent5">
            <a:tint val="40000"/>
            <a:alpha val="90000"/>
            <a:hueOff val="2680221"/>
            <a:satOff val="-18300"/>
            <a:lumOff val="-1360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2680221"/>
              <a:satOff val="-18300"/>
              <a:lumOff val="-136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5341" tIns="155341" rIns="155341" bIns="155341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Adjust pricing for low‑selling breeds.</a:t>
          </a:r>
        </a:p>
      </dsp:txBody>
      <dsp:txXfrm>
        <a:off x="1683493" y="1547124"/>
        <a:ext cx="1572634" cy="2754212"/>
      </dsp:txXfrm>
    </dsp:sp>
    <dsp:sp modelId="{0458A8F7-1E3D-4FB6-9057-CA1CF4D07E2E}">
      <dsp:nvSpPr>
        <dsp:cNvPr id="0" name=""/>
        <dsp:cNvSpPr/>
      </dsp:nvSpPr>
      <dsp:spPr>
        <a:xfrm>
          <a:off x="3364128" y="1075334"/>
          <a:ext cx="1572634" cy="471790"/>
        </a:xfrm>
        <a:prstGeom prst="rect">
          <a:avLst/>
        </a:prstGeom>
        <a:solidFill>
          <a:schemeClr val="accent5">
            <a:hueOff val="5583602"/>
            <a:satOff val="598"/>
            <a:lumOff val="-11504"/>
            <a:alphaOff val="0"/>
          </a:schemeClr>
        </a:solidFill>
        <a:ln w="19050" cap="flat" cmpd="sng" algn="ctr">
          <a:solidFill>
            <a:schemeClr val="accent5">
              <a:hueOff val="5583602"/>
              <a:satOff val="598"/>
              <a:lumOff val="-1150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4273" tIns="124273" rIns="124273" bIns="124273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Promote</a:t>
          </a:r>
        </a:p>
      </dsp:txBody>
      <dsp:txXfrm>
        <a:off x="3364128" y="1075334"/>
        <a:ext cx="1572634" cy="471790"/>
      </dsp:txXfrm>
    </dsp:sp>
    <dsp:sp modelId="{78826137-31C5-458B-B837-EE19A5924B7B}">
      <dsp:nvSpPr>
        <dsp:cNvPr id="0" name=""/>
        <dsp:cNvSpPr/>
      </dsp:nvSpPr>
      <dsp:spPr>
        <a:xfrm>
          <a:off x="3364128" y="1547124"/>
          <a:ext cx="1572634" cy="2754212"/>
        </a:xfrm>
        <a:prstGeom prst="rect">
          <a:avLst/>
        </a:prstGeom>
        <a:solidFill>
          <a:schemeClr val="accent5">
            <a:tint val="40000"/>
            <a:alpha val="90000"/>
            <a:hueOff val="5360441"/>
            <a:satOff val="-36601"/>
            <a:lumOff val="-2720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5360441"/>
              <a:satOff val="-36601"/>
              <a:lumOff val="-272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5341" tIns="155341" rIns="155341" bIns="155341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Promote premium cat breeds with strong demand.</a:t>
          </a:r>
        </a:p>
      </dsp:txBody>
      <dsp:txXfrm>
        <a:off x="3364128" y="1547124"/>
        <a:ext cx="1572634" cy="2754212"/>
      </dsp:txXfrm>
    </dsp:sp>
    <dsp:sp modelId="{7B4D8E39-43BA-4465-B179-C718B25988C9}">
      <dsp:nvSpPr>
        <dsp:cNvPr id="0" name=""/>
        <dsp:cNvSpPr/>
      </dsp:nvSpPr>
      <dsp:spPr>
        <a:xfrm>
          <a:off x="5044762" y="1075334"/>
          <a:ext cx="1572634" cy="471790"/>
        </a:xfrm>
        <a:prstGeom prst="rect">
          <a:avLst/>
        </a:prstGeom>
        <a:solidFill>
          <a:schemeClr val="accent5">
            <a:hueOff val="8375403"/>
            <a:satOff val="897"/>
            <a:lumOff val="-17256"/>
            <a:alphaOff val="0"/>
          </a:schemeClr>
        </a:solidFill>
        <a:ln w="19050" cap="flat" cmpd="sng" algn="ctr">
          <a:solidFill>
            <a:schemeClr val="accent5">
              <a:hueOff val="8375403"/>
              <a:satOff val="897"/>
              <a:lumOff val="-1725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4273" tIns="124273" rIns="124273" bIns="124273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Use</a:t>
          </a:r>
        </a:p>
      </dsp:txBody>
      <dsp:txXfrm>
        <a:off x="5044762" y="1075334"/>
        <a:ext cx="1572634" cy="471790"/>
      </dsp:txXfrm>
    </dsp:sp>
    <dsp:sp modelId="{E350ECDD-3A14-4F45-92B7-2D8100215862}">
      <dsp:nvSpPr>
        <dsp:cNvPr id="0" name=""/>
        <dsp:cNvSpPr/>
      </dsp:nvSpPr>
      <dsp:spPr>
        <a:xfrm>
          <a:off x="5044762" y="1547124"/>
          <a:ext cx="1572634" cy="2754212"/>
        </a:xfrm>
        <a:prstGeom prst="rect">
          <a:avLst/>
        </a:prstGeom>
        <a:solidFill>
          <a:schemeClr val="accent5">
            <a:tint val="40000"/>
            <a:alpha val="90000"/>
            <a:hueOff val="8040662"/>
            <a:satOff val="-54901"/>
            <a:lumOff val="-4080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8040662"/>
              <a:satOff val="-54901"/>
              <a:lumOff val="-408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5341" tIns="155341" rIns="155341" bIns="155341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Use temperament and popularity data for targeted marketing.</a:t>
          </a:r>
        </a:p>
      </dsp:txBody>
      <dsp:txXfrm>
        <a:off x="5044762" y="1547124"/>
        <a:ext cx="1572634" cy="275421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HorizontalActionList">
  <dgm:title val="Horizontal Action List"/>
  <dgm:desc val="Used to show non-sequential or grouped lists of information. Works well with large amounts of text. All text has the same level of emphasis, and direction is not implied."/>
  <dgm:catLst>
    <dgm:cat type="list" pri="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 fact="0.6"/>
      <dgm:constr type="h" for="des" forName="composite" op="equ"/>
      <dgm:constr type="w" for="ch" forName="composite" refType="w"/>
      <dgm:constr type="w" for="des" forName="parTx"/>
      <dgm:constr type="h" for="des" forName="parTx" op="equ"/>
      <dgm:constr type="w" for="des" forName="desTx"/>
      <dgm:constr type="primFontSz" for="des" forName="parTx" val="54"/>
      <dgm:constr type="primFontSz" for="des" forName="desTx" refType="primFontSz" refFor="des" refForName="parTx" op="lte" fact="0.75"/>
      <dgm:constr type="h" for="des" forName="desTx" op="equ"/>
      <dgm:constr type="w" for="ch" forName="space" op="equ" val="3"/>
    </dgm:constrLst>
    <dgm:ruleLst>
      <dgm:rule type="w" for="ch" forName="composite" val="0" fact="NaN" max="NaN"/>
    </dgm:ruleLst>
    <dgm:forEach name="Name6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3"/>
            <dgm:constr type="h"/>
            <dgm:constr type="tMarg" refType="w" fact="0.224"/>
            <dgm:constr type="bMarg" refType="w" fact="0.224"/>
            <dgm:constr type="lMarg" refType="w" fact="0.224"/>
            <dgm:constr type="rMarg" refType="w" fact="0.224"/>
          </dgm:constrLst>
          <dgm:ruleLst>
            <dgm:rule type="h" val="INF" fact="NaN" max="NaN"/>
            <dgm:rule type="primFontSz" val="14" fact="NaN" max="NaN"/>
          </dgm:ruleLst>
        </dgm:layoutNode>
        <dgm:layoutNode name="desTx" styleLbl="alignAccFollowNode1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primFontSz" val="28"/>
            <dgm:constr type="tMarg" refType="w" fact="0.28"/>
            <dgm:constr type="bMarg" refType="w" fact="0.28"/>
            <dgm:constr type="lMarg" refType="w" fact="0.28"/>
            <dgm:constr type="rMarg" refType="w" fact="0.28"/>
          </dgm:constrLst>
          <dgm:ruleLst>
            <dgm:rule type="h" val="INF" fact="NaN" max="NaN"/>
            <dgm:rule type="primFontSz" val="11" fact="NaN" max="NaN"/>
          </dgm:ruleLst>
        </dgm:layoutNode>
      </dgm:layoutNode>
      <dgm:forEach name="Name19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3BE26D-CD1C-4319-905D-DDD052A64A72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E056E4-E498-48D9-B055-4D1811986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50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Total Sales = Quantity Sold × Average Price per Breed</a:t>
            </a:r>
          </a:p>
          <a:p>
            <a:r>
              <a:rPr lang="en-US" dirty="0"/>
              <a:t>This slide compares total sales across all dog and cat breeds, highlighting the highest‑ and lowest‑selling breeds.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E056E4-E498-48D9-B055-4D18119860E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0992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chart shows the top 10 cat breeds ranked by popularity scores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E056E4-E498-48D9-B055-4D18119860E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9444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chart displays the top 10 dog breeds based on popularity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E056E4-E498-48D9-B055-4D18119860E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4696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i="1" dirty="0">
                <a:effectLst/>
              </a:rPr>
              <a:t>This chart highlights the 10 least popular cat breeds according to the dataset.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E056E4-E498-48D9-B055-4D18119860E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3476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chart shows the 10 least popular dog breeds based on popularity rankings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E056E4-E498-48D9-B055-4D18119860E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4356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0569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9118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7950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8962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876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7773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678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794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5005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7946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703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039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4" name="Picture 3" descr="A cat and golden retriever laying down">
            <a:extLst>
              <a:ext uri="{FF2B5EF4-FFF2-40B4-BE49-F238E27FC236}">
                <a16:creationId xmlns:a16="http://schemas.microsoft.com/office/drawing/2014/main" id="{B85918D7-DE26-0615-F75F-E2C02EB2885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493" b="6238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12025B4-7337-735E-4DC9-E634D20119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73183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20000"/>
                </a:schemeClr>
              </a:gs>
              <a:gs pos="26000">
                <a:schemeClr val="bg1">
                  <a:alpha val="7000"/>
                </a:schemeClr>
              </a:gs>
              <a:gs pos="100000">
                <a:schemeClr val="bg1">
                  <a:alpha val="3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4DE4F3-5651-FA3D-8A0E-94437727A2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8910" y="978408"/>
            <a:ext cx="4795819" cy="3969960"/>
          </a:xfrm>
        </p:spPr>
        <p:txBody>
          <a:bodyPr anchor="t">
            <a:normAutofit fontScale="90000"/>
          </a:bodyPr>
          <a:lstStyle/>
          <a:p>
            <a:r>
              <a:rPr lang="en-US" sz="6100" dirty="0"/>
              <a:t>DOG AND CAT  BREEDS SALES  SUMMARY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272859-FCD7-BB94-491C-1D0910DE69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8910" y="4948369"/>
            <a:ext cx="4381634" cy="1157436"/>
          </a:xfrm>
        </p:spPr>
        <p:txBody>
          <a:bodyPr anchor="b">
            <a:normAutofit/>
          </a:bodyPr>
          <a:lstStyle/>
          <a:p>
            <a:r>
              <a:rPr lang="en-US" sz="2400" dirty="0"/>
              <a:t>ZAINAB SOLIU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0CDACD-D191-E642-F686-FCB54B7E5F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4695702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593861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FAA3B297-9683-4E38-89FA-062C53E13F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A0011E-275C-C940-84E7-C526A5F1FC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8686800" cy="1463040"/>
          </a:xfrm>
        </p:spPr>
        <p:txBody>
          <a:bodyPr>
            <a:normAutofit/>
          </a:bodyPr>
          <a:lstStyle/>
          <a:p>
            <a:r>
              <a:rPr lang="en-US" dirty="0"/>
              <a:t>DATA OVERVIEW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BF74692-AE31-4A00-B5F9-994E8D519F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868680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2EDF45B9-A4DB-3F88-4508-F0BF8E44923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97135500"/>
              </p:ext>
            </p:extLst>
          </p:nvPr>
        </p:nvGraphicFramePr>
        <p:xfrm>
          <a:off x="520700" y="2578100"/>
          <a:ext cx="8686800" cy="37671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416255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E3D82-EC82-F0DD-DB7A-4061C3823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 AND BUTTOM SELLING BREEDS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A836CD-7B11-6823-1F53-4B673E178B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578608"/>
            <a:ext cx="11155680" cy="4279392"/>
          </a:xfrm>
        </p:spPr>
        <p:txBody>
          <a:bodyPr>
            <a:normAutofit/>
          </a:bodyPr>
          <a:lstStyle/>
          <a:p>
            <a:r>
              <a:rPr lang="en-US" sz="2000" dirty="0"/>
              <a:t>Top Dog Breed: Irish Water Spaniel (66754800)</a:t>
            </a:r>
          </a:p>
          <a:p>
            <a:r>
              <a:rPr lang="en-US" sz="2000" dirty="0"/>
              <a:t>Lowest Dog Breed: African hurting dog  (0)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Dog breed sales demonstrate stronger variation across breeds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/>
              <a:t>Top Cat Breed: Munchkin (232500)</a:t>
            </a:r>
          </a:p>
          <a:p>
            <a:r>
              <a:rPr lang="en-US" sz="2000" dirty="0"/>
              <a:t>Lowest Cat Breed: mixed breed  </a:t>
            </a:r>
            <a:r>
              <a:rPr lang="en-US" sz="2000"/>
              <a:t>sss(</a:t>
            </a:r>
            <a:r>
              <a:rPr lang="en-US" sz="2000" dirty="0"/>
              <a:t>0)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These results show customer preference among cat breeds.</a:t>
            </a:r>
          </a:p>
          <a:p>
            <a:pPr marL="0" indent="0">
              <a:buNone/>
            </a:pPr>
            <a:endParaRPr lang="en-US" sz="2000" dirty="0"/>
          </a:p>
          <a:p>
            <a:endParaRPr lang="en-US" sz="2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26628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820888B-4EA5-E0E8-6D52-7733E1E774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BF6967-42AA-2906-E321-A8E0CAA6DD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7"/>
            <a:ext cx="3397649" cy="3559447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sz="4100" dirty="0"/>
              <a:t>TOP 10 CATS BREEDS BASED ON POPULARITY</a:t>
            </a:r>
            <a:br>
              <a:rPr lang="en-US" sz="4100" dirty="0"/>
            </a:br>
            <a:r>
              <a:rPr lang="en-US" sz="4100" dirty="0"/>
              <a:t>  </a:t>
            </a:r>
            <a:r>
              <a:rPr lang="en-US" sz="2200" dirty="0"/>
              <a:t>Most popular cat breeds ranked by overall demand and customer preference</a:t>
            </a:r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06B5A8BF-0680-F9A7-27B1-3971EC9347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31" name="Chart 30">
            <a:extLst>
              <a:ext uri="{FF2B5EF4-FFF2-40B4-BE49-F238E27FC236}">
                <a16:creationId xmlns:a16="http://schemas.microsoft.com/office/drawing/2014/main" id="{969FE249-F457-C7F7-4A62-38D0A66E129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63545700"/>
              </p:ext>
            </p:extLst>
          </p:nvPr>
        </p:nvGraphicFramePr>
        <p:xfrm>
          <a:off x="4119154" y="965741"/>
          <a:ext cx="7551931" cy="53802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1147886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FF9FFCE1-E057-415B-A971-88EC7E22AF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FF7C0A-051F-4B4C-2633-CC62486E4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9" y="971396"/>
            <a:ext cx="3462236" cy="4636177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dirty="0"/>
              <a:t>TOP 10 DOG BASED ON POPULARITY</a:t>
            </a:r>
            <a:br>
              <a:rPr lang="en-US" dirty="0"/>
            </a:br>
            <a:br>
              <a:rPr lang="en-US" dirty="0"/>
            </a:br>
            <a:r>
              <a:rPr lang="en-US" sz="2700" dirty="0"/>
              <a:t>Leading dog breeds by popularity, showing strong preference for French bulldog and retriever.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3465576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58401B5-5F1B-4D21-9AC3-AAEC8D3665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71704" y="6300216"/>
            <a:ext cx="7293604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22250AEA-8E20-488D-62E1-4D3669B7307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34954423"/>
              </p:ext>
            </p:extLst>
          </p:nvPr>
        </p:nvGraphicFramePr>
        <p:xfrm>
          <a:off x="4371704" y="508090"/>
          <a:ext cx="7293594" cy="56265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677749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FF9FFCE1-E057-415B-A971-88EC7E22AF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6C10E3-29AE-BBDF-6219-093922F090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9" y="971396"/>
            <a:ext cx="3462236" cy="5328819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dirty="0"/>
              <a:t>BUTTOM 10 CATS BREED BASED ON  POPULARITY</a:t>
            </a:r>
            <a:br>
              <a:rPr lang="en-US" dirty="0"/>
            </a:br>
            <a:br>
              <a:rPr lang="en-US" dirty="0"/>
            </a:br>
            <a:r>
              <a:rPr lang="en-US" sz="3100" i="1" dirty="0"/>
              <a:t>Least popular cat breeds, highlighting limited demand across multiple characteristics</a:t>
            </a:r>
            <a:r>
              <a:rPr lang="en-US" i="1" dirty="0"/>
              <a:t>.</a:t>
            </a:r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3465576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58401B5-5F1B-4D21-9AC3-AAEC8D3665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71704" y="6300216"/>
            <a:ext cx="7293604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7CF6C2A5-3167-1C01-1D01-7DFD927A6DF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23094558"/>
              </p:ext>
            </p:extLst>
          </p:nvPr>
        </p:nvGraphicFramePr>
        <p:xfrm>
          <a:off x="4371704" y="508090"/>
          <a:ext cx="7293594" cy="56265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5941092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FF9FFCE1-E057-415B-A971-88EC7E22AF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89A908-A8C9-7080-8DF8-EBBBB0E44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9" y="971396"/>
            <a:ext cx="3462236" cy="4636177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sz="4100" dirty="0"/>
              <a:t>BUTTOM 10 DOGS BREEDS BASED ON POULARITY</a:t>
            </a:r>
            <a:br>
              <a:rPr lang="en-US" sz="4100" dirty="0"/>
            </a:br>
            <a:br>
              <a:rPr lang="en-US" sz="4100" dirty="0"/>
            </a:br>
            <a:r>
              <a:rPr lang="en-US" sz="3100" i="1" dirty="0"/>
              <a:t>Lowest‑ranking dog breeds in popularity, reflecting minimal customer interest</a:t>
            </a:r>
            <a:r>
              <a:rPr lang="en-US" sz="4000" i="1" dirty="0"/>
              <a:t>.</a:t>
            </a:r>
            <a:br>
              <a:rPr lang="en-US" sz="4000" dirty="0"/>
            </a:br>
            <a:r>
              <a:rPr lang="en-US" sz="4100" dirty="0"/>
              <a:t> 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3465576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58401B5-5F1B-4D21-9AC3-AAEC8D3665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71704" y="6300216"/>
            <a:ext cx="7293604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1598CA8F-9AF4-841A-897E-EDD831C2FD6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48424739"/>
              </p:ext>
            </p:extLst>
          </p:nvPr>
        </p:nvGraphicFramePr>
        <p:xfrm>
          <a:off x="4371704" y="508090"/>
          <a:ext cx="7293594" cy="56265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5918461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0724E-53C8-FF41-390A-FA86E0B8D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CONCLUSION</a:t>
            </a:r>
            <a:r>
              <a:rPr 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9BA423-96C7-1F59-E3C1-E388E67C96C6}"/>
              </a:ext>
            </a:extLst>
          </p:cNvPr>
          <p:cNvSpPr txBox="1"/>
          <p:nvPr/>
        </p:nvSpPr>
        <p:spPr>
          <a:xfrm>
            <a:off x="1435394" y="2690336"/>
            <a:ext cx="7711263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</a:rPr>
              <a:t> Dog sales show extreme outliers (e.g., Irish Water Spaniel).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</a:rPr>
              <a:t> Cat pricing varies widely, indicating diverse demand patterns.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</a:rPr>
              <a:t> Price does not strongly correlate with sales for dogs.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</a:rPr>
              <a:t> Cat popularity is more evenly distributed.</a:t>
            </a:r>
          </a:p>
          <a:p>
            <a:endParaRPr lang="en-U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7379751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E17AA97-89A7-45C1-B813-BFF6C23D7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3D7A54-ACCE-E05A-3324-7924CA96A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032504" cy="3364992"/>
          </a:xfrm>
        </p:spPr>
        <p:txBody>
          <a:bodyPr>
            <a:normAutofit/>
          </a:bodyPr>
          <a:lstStyle/>
          <a:p>
            <a:r>
              <a:rPr lang="en-US" sz="3100"/>
              <a:t>RECOMMENDATION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3AC4FE1-D370-43A6-96C5-076716BB1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403250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A3D569D-D3A6-49CA-A483-291E95DAC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65776" y="611650"/>
            <a:ext cx="6620256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684D5BA7-5852-2C2B-2E26-BEB55D881B6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76710220"/>
              </p:ext>
            </p:extLst>
          </p:nvPr>
        </p:nvGraphicFramePr>
        <p:xfrm>
          <a:off x="5065776" y="978408"/>
          <a:ext cx="6620256" cy="53766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27043215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2221</TotalTime>
  <Words>365</Words>
  <Application>Microsoft Office PowerPoint</Application>
  <PresentationFormat>Widescreen</PresentationFormat>
  <Paragraphs>53</Paragraphs>
  <Slides>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Arial</vt:lpstr>
      <vt:lpstr>Bierstadt</vt:lpstr>
      <vt:lpstr>Neue Haas Grotesk Text Pro</vt:lpstr>
      <vt:lpstr>GestaltVTI</vt:lpstr>
      <vt:lpstr>DOG AND CAT  BREEDS SALES  SUMMARY </vt:lpstr>
      <vt:lpstr>DATA OVERVIEW </vt:lpstr>
      <vt:lpstr>TOP AND BUTTOM SELLING BREEDS </vt:lpstr>
      <vt:lpstr>TOP 10 CATS BREEDS BASED ON POPULARITY   Most popular cat breeds ranked by overall demand and customer preference</vt:lpstr>
      <vt:lpstr>TOP 10 DOG BASED ON POPULARITY  Leading dog breeds by popularity, showing strong preference for French bulldog and retriever. </vt:lpstr>
      <vt:lpstr>BUTTOM 10 CATS BREED BASED ON  POPULARITY  Least popular cat breeds, highlighting limited demand across multiple characteristics.</vt:lpstr>
      <vt:lpstr>BUTTOM 10 DOGS BREEDS BASED ON POULARITY  Lowest‑ranking dog breeds in popularity, reflecting minimal customer interest.  </vt:lpstr>
      <vt:lpstr>CONCLUSION </vt:lpstr>
      <vt:lpstr>RECOMMENDATION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soliuzainab45@outlook.com</dc:creator>
  <cp:lastModifiedBy>soliuzainab45@outlook.com</cp:lastModifiedBy>
  <cp:revision>9</cp:revision>
  <dcterms:created xsi:type="dcterms:W3CDTF">2026-01-15T18:29:30Z</dcterms:created>
  <dcterms:modified xsi:type="dcterms:W3CDTF">2026-01-22T18:23:47Z</dcterms:modified>
</cp:coreProperties>
</file>